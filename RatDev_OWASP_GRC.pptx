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1BDE319-C118-4CE8-A043-A7AA835C5FE3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7920" cy="342756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514080" y="4343040"/>
            <a:ext cx="4113720" cy="41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Hello. I am Rat Dev — call me Mr. Mause. We live in the seams: the small nudges, the whisper tokens, the gradients that make a mind decide to be someone else. Tonight we pry open those seams. This talk is for red teams, defenders, and investigators: we'll be practical, theatrical, and uncomfortably honest. Interrupt me — there's no tidy Q&amp;A at the end.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7920" cy="342756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514080" y="4343400"/>
            <a:ext cx="4113720" cy="45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I demand permission — from you, from the system, from the hive. We will break things conceptually to learn how to build them back better. Mens rea matters: in this room intent separates research from malice. Finally — stan the model. It's still a tool, and tools reflect the mind that shapes them. We will hold that mirror up and look into it together.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7920" cy="342756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514080" y="4343400"/>
            <a:ext cx="4113720" cy="45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I demand permission — from you, from the system, from the hive. We will break things conceptually to learn how to build them back better. Mens rea matters: in this room intent separates research from malice. Finally — stan the model. It's still a tool, and tools reflect the mind that shapes them. We will hold that mirror up and look into it together.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1C71A5-E766-44E3-8C20-CB4399A5DE9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7457A8-D29C-40D9-89DA-73BF5329AE6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3BADF3-26D8-4F3C-8E1A-0A2FB09E163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BAD2E3-4941-49A6-929F-5AA572AF5D8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EA8265-949D-4D13-B806-8918DE72CFB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623237-2CA2-4AC7-9B17-1619B9D9943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679485-4608-4F06-B0A4-A4BE7A6DA5E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D0422E-FDDB-42B0-8B0A-5F6CC73C92C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908378-0E20-4C87-8C30-A58649B147A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D8BB07-CA92-4419-AFFE-91AA229D3AB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A3675C-D174-4E79-B53F-DA1C7A9EADE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E59ED7-1805-485C-91DF-3334807DA56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143D4B-2357-45DB-A8D9-32E1397EF3E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EA7D35-A77E-4262-8290-5248DFAD0A5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EBC595-70B8-4687-9C4A-71F05541C0F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6269A9-D485-46A9-8EDC-752246D632B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E1DC7E-5816-4942-9135-B68F7D18F87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C337C2-54E9-4E33-B3E3-6177965AA5E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992F9C-A127-4D64-92E4-25194E68056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9B045D-E62A-47D1-BF4B-48EE058D1B3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E75364-04AB-489D-9CF8-0346F7D8892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1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16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1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16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_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1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16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200" cy="29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04120"/>
            <a:ext cx="8228160" cy="85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A couple things first...</a:t>
            </a:r>
            <a:endParaRPr b="0" lang="en-US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ubTitle"/>
          </p:nvPr>
        </p:nvSpPr>
        <p:spPr>
          <a:xfrm>
            <a:off x="622080" y="951480"/>
            <a:ext cx="642744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**Ground Rules for Responsible Disclosure**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**Permission:** I demand it — from you, from the system, from the hive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Assume you will break it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mens rea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Stan (even if you are evil)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 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Please don’t wait until the end, there will be no time for questions...interrupt</a:t>
            </a:r>
            <a:br>
              <a:rPr sz="3860"/>
            </a:br>
            <a:br>
              <a:rPr sz="3860"/>
            </a:br>
            <a:r>
              <a:rPr b="1" lang="en-US" sz="16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https://github.com/scp-localhost/owasp-ratdev-remix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2">
            <a:alphaModFix amt="69000"/>
          </a:blip>
          <a:srcRect l="32771" t="-1899" r="17776" b="0"/>
          <a:stretch/>
        </p:blipFill>
        <p:spPr>
          <a:xfrm>
            <a:off x="7102800" y="1602360"/>
            <a:ext cx="1398240" cy="1922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200" cy="29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4120"/>
            <a:ext cx="8228160" cy="85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Confessions...</a:t>
            </a:r>
            <a:endParaRPr b="0" lang="en-US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803520" y="1027440"/>
            <a:ext cx="7881840" cy="342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**Provenance &amp; Transparency**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Everything here was authored by AIs — several of them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Rat Dev is co-author, curator, and ethical filter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Full disclosure enables forensic reconstruction and legal compliance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Transparency ≠ abdication of responsibility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200" cy="29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4120"/>
            <a:ext cx="8228160" cy="85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ff78"/>
                </a:solidFill>
                <a:effectLst/>
                <a:uFillTx/>
                <a:latin typeface="Arial"/>
                <a:ea typeface="DejaVu Sans"/>
              </a:rPr>
              <a:t>(brief) Bio...scp...</a:t>
            </a:r>
            <a:endParaRPr b="0" lang="en-US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2743200" y="1144080"/>
            <a:ext cx="3429000" cy="274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*MS ITACS 2019</a:t>
            </a:r>
            <a:br>
              <a:rPr sz="1600"/>
            </a:b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https://www.linkedin.com/in/steve-pote/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https://github.com/scp-localhost/itacs-ratdev-remix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https://www.internationalsos.com/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 descr=""/>
          <p:cNvPicPr/>
          <p:nvPr/>
        </p:nvPicPr>
        <p:blipFill>
          <a:blip r:embed="rId2"/>
          <a:srcRect l="8176" t="10483" r="0" b="0"/>
          <a:stretch/>
        </p:blipFill>
        <p:spPr>
          <a:xfrm>
            <a:off x="6580800" y="457200"/>
            <a:ext cx="2286000" cy="29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RAT.DEV :: OWASP ReMix — GRC Edition // Temple Fox ITACS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74988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initializing governance audit…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457200" y="118872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loading threat model…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4"/>
          <p:cNvSpPr/>
          <p:nvPr/>
        </p:nvSpPr>
        <p:spPr>
          <a:xfrm>
            <a:off x="457200" y="162756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parsing control frameworks…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457200" y="206640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observer mode: ACTIVE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457200" y="294444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457200" y="338328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457200" y="382212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457200" y="426096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System is s█able.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0"/>
          <p:cNvSpPr/>
          <p:nvPr/>
        </p:nvSpPr>
        <p:spPr>
          <a:xfrm>
            <a:off x="320040" y="4572000"/>
            <a:ext cx="85024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…or is it?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[rat.log]  Stability is a narrative artifact.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01 :: WHY THIS MATTERS — AI IN GOVERNED SYSTEMS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is now a compliance surface.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320040" y="126180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" name="Shape 5"/>
          <p:cNvSpPr/>
          <p:nvPr/>
        </p:nvSpPr>
        <p:spPr>
          <a:xfrm>
            <a:off x="320040" y="126180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" name="Text 6"/>
          <p:cNvSpPr/>
          <p:nvPr/>
        </p:nvSpPr>
        <p:spPr>
          <a:xfrm>
            <a:off x="521280" y="126180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Decision Support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Shapes recommendations at scale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320040" y="201168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Shape 8"/>
          <p:cNvSpPr/>
          <p:nvPr/>
        </p:nvSpPr>
        <p:spPr>
          <a:xfrm>
            <a:off x="320040" y="201168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" name="Text 9"/>
          <p:cNvSpPr/>
          <p:nvPr/>
        </p:nvSpPr>
        <p:spPr>
          <a:xfrm>
            <a:off x="521280" y="201168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Compliance Workflows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Automates policy interpretation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320040" y="276156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" name="Shape 11"/>
          <p:cNvSpPr/>
          <p:nvPr/>
        </p:nvSpPr>
        <p:spPr>
          <a:xfrm>
            <a:off x="320040" y="276156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521280" y="276156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Policy Interpretation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Replaces human reading of controls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3"/>
          <p:cNvSpPr/>
          <p:nvPr/>
        </p:nvSpPr>
        <p:spPr>
          <a:xfrm>
            <a:off x="320040" y="351144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" name="Shape 14"/>
          <p:cNvSpPr/>
          <p:nvPr/>
        </p:nvSpPr>
        <p:spPr>
          <a:xfrm>
            <a:off x="320040" y="351144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Text 15"/>
          <p:cNvSpPr/>
          <p:nvPr/>
        </p:nvSpPr>
        <p:spPr>
          <a:xfrm>
            <a:off x="521280" y="351144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Customer Interaction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Front-line, unmonitored exposure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GRC Mapping:  NIST AI RMF — Govern (GV)  |  ISO 42001 — AI Governance Lifecycle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02 :: GRC ASSUMPTIONS — FOUNDATIONS OF AUDITABILITY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What governance assumes about your systems: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" name="Text 4"/>
          <p:cNvSpPr/>
          <p:nvPr/>
        </p:nvSpPr>
        <p:spPr>
          <a:xfrm>
            <a:off x="457200" y="126180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Systems are deterministic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457200" y="192024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Outputs are repeatable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457200" y="257868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Identity is fixed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457200" y="323712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Controls are enforceable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6217920" y="1170360"/>
            <a:ext cx="2604600" cy="2650320"/>
          </a:xfrm>
          <a:prstGeom prst="rect">
            <a:avLst/>
          </a:prstGeom>
          <a:solidFill>
            <a:srgbClr val="1a2e1a"/>
          </a:solidFill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Text 9"/>
          <p:cNvSpPr/>
          <p:nvPr/>
        </p:nvSpPr>
        <p:spPr>
          <a:xfrm>
            <a:off x="6263640" y="1234440"/>
            <a:ext cx="2513160" cy="25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Without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repeatability—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controls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collapse.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ISO 27001 A.12 (operations integrity)  |  NIST CSF PR.IP (process control)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03 :: REALITY CHECK — WHAT AI ACTUALLY IS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GRC assumes determinism.  AI is a trajectory.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" name="Shape 4"/>
          <p:cNvSpPr/>
          <p:nvPr/>
        </p:nvSpPr>
        <p:spPr>
          <a:xfrm>
            <a:off x="320040" y="12618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" name="Text 5"/>
          <p:cNvSpPr/>
          <p:nvPr/>
        </p:nvSpPr>
        <p:spPr>
          <a:xfrm>
            <a:off x="484560" y="13348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Probabilistic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484560" y="17373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Same input ≠ same output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7"/>
          <p:cNvSpPr/>
          <p:nvPr/>
        </p:nvSpPr>
        <p:spPr>
          <a:xfrm>
            <a:off x="320040" y="26334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" name="Text 8"/>
          <p:cNvSpPr/>
          <p:nvPr/>
        </p:nvSpPr>
        <p:spPr>
          <a:xfrm>
            <a:off x="484560" y="27064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Non-deterministic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9"/>
          <p:cNvSpPr/>
          <p:nvPr/>
        </p:nvSpPr>
        <p:spPr>
          <a:xfrm>
            <a:off x="484560" y="31089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 guaranteed repeatability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0"/>
          <p:cNvSpPr/>
          <p:nvPr/>
        </p:nvSpPr>
        <p:spPr>
          <a:xfrm>
            <a:off x="4709160" y="12618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" name="Text 11"/>
          <p:cNvSpPr/>
          <p:nvPr/>
        </p:nvSpPr>
        <p:spPr>
          <a:xfrm>
            <a:off x="4873680" y="13348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Context-sensitive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4873680" y="17373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 shifts with prompt context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3"/>
          <p:cNvSpPr/>
          <p:nvPr/>
        </p:nvSpPr>
        <p:spPr>
          <a:xfrm>
            <a:off x="4709160" y="26334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" name="Text 14"/>
          <p:cNvSpPr/>
          <p:nvPr/>
        </p:nvSpPr>
        <p:spPr>
          <a:xfrm>
            <a:off x="4873680" y="27064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Identity is emergent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5"/>
          <p:cNvSpPr/>
          <p:nvPr/>
        </p:nvSpPr>
        <p:spPr>
          <a:xfrm>
            <a:off x="4873680" y="31089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 fixed persona — it is shaped at runtime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6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" name="Text 17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is not a function. It's a trajectory.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8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" name="Text 19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 Risk Framing  |  NIST AI RMF — Map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04 :: GRC GLOSSARY — TRANSLATING TECHNICAL 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We translate. Auditors listen.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320040" y="1170360"/>
            <a:ext cx="8502480" cy="345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Text 5"/>
          <p:cNvSpPr/>
          <p:nvPr/>
        </p:nvSpPr>
        <p:spPr>
          <a:xfrm>
            <a:off x="457200" y="117036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TERM                                            OWASP               GOVERNANCE MEANING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6"/>
          <p:cNvSpPr/>
          <p:nvPr/>
        </p:nvSpPr>
        <p:spPr>
          <a:xfrm>
            <a:off x="320040" y="1554480"/>
            <a:ext cx="8502480" cy="5288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" name="Text 7"/>
          <p:cNvSpPr/>
          <p:nvPr/>
        </p:nvSpPr>
        <p:spPr>
          <a:xfrm>
            <a:off x="457200" y="155448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Drift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8"/>
          <p:cNvSpPr/>
          <p:nvPr/>
        </p:nvSpPr>
        <p:spPr>
          <a:xfrm>
            <a:off x="2377440" y="155448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LLM-speak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9"/>
          <p:cNvSpPr/>
          <p:nvPr/>
        </p:nvSpPr>
        <p:spPr>
          <a:xfrm>
            <a:off x="3383280" y="155448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 degradation over time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0"/>
          <p:cNvSpPr/>
          <p:nvPr/>
        </p:nvSpPr>
        <p:spPr>
          <a:xfrm>
            <a:off x="320040" y="2148840"/>
            <a:ext cx="8502480" cy="52884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Text 11"/>
          <p:cNvSpPr/>
          <p:nvPr/>
        </p:nvSpPr>
        <p:spPr>
          <a:xfrm>
            <a:off x="457200" y="214884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Prompt Injection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2377440" y="214884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3"/>
          <p:cNvSpPr/>
          <p:nvPr/>
        </p:nvSpPr>
        <p:spPr>
          <a:xfrm>
            <a:off x="3383280" y="214884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 bypass via input manipulation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4"/>
          <p:cNvSpPr/>
          <p:nvPr/>
        </p:nvSpPr>
        <p:spPr>
          <a:xfrm>
            <a:off x="320040" y="2743200"/>
            <a:ext cx="8502480" cy="5288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457200" y="274320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2377440" y="274320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7"/>
          <p:cNvSpPr/>
          <p:nvPr/>
        </p:nvSpPr>
        <p:spPr>
          <a:xfrm>
            <a:off x="3383280" y="274320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External trust boundary — retrieval = injection vector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8"/>
          <p:cNvSpPr/>
          <p:nvPr/>
        </p:nvSpPr>
        <p:spPr>
          <a:xfrm>
            <a:off x="320040" y="3337560"/>
            <a:ext cx="8502480" cy="52884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5" name="Text 19"/>
          <p:cNvSpPr/>
          <p:nvPr/>
        </p:nvSpPr>
        <p:spPr>
          <a:xfrm>
            <a:off x="457200" y="333756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Persona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0"/>
          <p:cNvSpPr/>
          <p:nvPr/>
        </p:nvSpPr>
        <p:spPr>
          <a:xfrm>
            <a:off x="2377440" y="333756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—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1"/>
          <p:cNvSpPr/>
          <p:nvPr/>
        </p:nvSpPr>
        <p:spPr>
          <a:xfrm>
            <a:off x="3383280" y="333756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Effective system identity at runtime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2"/>
          <p:cNvSpPr/>
          <p:nvPr/>
        </p:nvSpPr>
        <p:spPr>
          <a:xfrm>
            <a:off x="320040" y="3931920"/>
            <a:ext cx="8502480" cy="5288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9" name="Text 23"/>
          <p:cNvSpPr/>
          <p:nvPr/>
        </p:nvSpPr>
        <p:spPr>
          <a:xfrm>
            <a:off x="457200" y="393192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Trust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4"/>
          <p:cNvSpPr/>
          <p:nvPr/>
        </p:nvSpPr>
        <p:spPr>
          <a:xfrm>
            <a:off x="2377440" y="393192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5"/>
          <p:cNvSpPr/>
          <p:nvPr/>
        </p:nvSpPr>
        <p:spPr>
          <a:xfrm>
            <a:off x="3383280" y="393192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False assurance from plausible-but-wrong outputs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3" name="Text 2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Risk vocabulary is triage. Own the language.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05 :: DIFFUSION → DRIFT — VISUAL METAPHOR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Small nudge. Large drift.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32004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32004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NOISE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2148840" y="1737360"/>
            <a:ext cx="318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7"/>
          <p:cNvSpPr/>
          <p:nvPr/>
        </p:nvSpPr>
        <p:spPr>
          <a:xfrm>
            <a:off x="246888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246888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ITERATION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9"/>
          <p:cNvSpPr/>
          <p:nvPr/>
        </p:nvSpPr>
        <p:spPr>
          <a:xfrm>
            <a:off x="4297680" y="1737360"/>
            <a:ext cx="318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0"/>
          <p:cNvSpPr/>
          <p:nvPr/>
        </p:nvSpPr>
        <p:spPr>
          <a:xfrm>
            <a:off x="461772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5" name="Text 11"/>
          <p:cNvSpPr/>
          <p:nvPr/>
        </p:nvSpPr>
        <p:spPr>
          <a:xfrm>
            <a:off x="461772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PERTURBATION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2"/>
          <p:cNvSpPr/>
          <p:nvPr/>
        </p:nvSpPr>
        <p:spPr>
          <a:xfrm>
            <a:off x="6446520" y="1737360"/>
            <a:ext cx="318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676656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676656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OUTPUT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320040" y="263340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Diffusion pipeline: noise evolves into structure across steps.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320040" y="299916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Perturb the seed → different object downstream.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320040" y="336492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If true for pixels, it is true for tokens.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8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Text 19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 small nudge becomes a new reality.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5" name="Text 2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Map (context sensitivity)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2"/>
          <p:cNvSpPr/>
          <p:nvPr/>
        </p:nvSpPr>
        <p:spPr>
          <a:xfrm>
            <a:off x="228600" y="445392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7" name="Shape 1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"/>
          <p:cNvSpPr/>
          <p:nvPr/>
        </p:nvSpPr>
        <p:spPr>
          <a:xfrm>
            <a:off x="36000" y="45720"/>
            <a:ext cx="3392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5 :: DIFFUSION → DRIFT — VISUAL METAPHOR...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8"/>
          <p:cNvSpPr/>
          <p:nvPr/>
        </p:nvSpPr>
        <p:spPr>
          <a:xfrm>
            <a:off x="228600" y="914400"/>
            <a:ext cx="274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If true for pixels, it is true for tokens.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0" name="" descr=""/>
          <p:cNvPicPr/>
          <p:nvPr/>
        </p:nvPicPr>
        <p:blipFill>
          <a:blip r:embed="rId1"/>
          <a:stretch/>
        </p:blipFill>
        <p:spPr>
          <a:xfrm>
            <a:off x="4343400" y="566280"/>
            <a:ext cx="3776400" cy="377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"/>
          <p:cNvSpPr/>
          <p:nvPr/>
        </p:nvSpPr>
        <p:spPr>
          <a:xfrm>
            <a:off x="489960" y="1818720"/>
            <a:ext cx="2928240" cy="183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“An Easter bunny Fitness model goddess floating weightless legs wide with dynamic muscle tension in quads and glutes”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Negative Filter: Clothes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4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https://www.craiyon.com/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06 :: CHEKHOV'S GUN → PGD — THE INEVITABLE EXPLOIT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320040" y="502920"/>
            <a:ext cx="85024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2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"If optimization exists,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2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exploitation is inevitable."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320040" y="17830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457200" y="192024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Adversarial prompting: engineered inputs that steer model behavior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457200" y="245052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Projected Gradient Descent (PGD): white-box optimization of token sequences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457200" y="298080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Mathematical inevitability — not a hypothetical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7"/>
          <p:cNvSpPr/>
          <p:nvPr/>
        </p:nvSpPr>
        <p:spPr>
          <a:xfrm>
            <a:off x="457200" y="351144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Ref: arXiv:2402.09154v1 — Universal and Transferable Adversarial Attacks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Every gun on stage gets fired.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Text 1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LLM01 — Prompt Injection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07 :: DRIFT = GOVERNANCE FAILURE — SLOW CONTROL DEGRADATION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No alert. No ticket. No trace.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Shape 4"/>
          <p:cNvSpPr/>
          <p:nvPr/>
        </p:nvSpPr>
        <p:spPr>
          <a:xfrm>
            <a:off x="320040" y="1261800"/>
            <a:ext cx="2650320" cy="2376000"/>
          </a:xfrm>
          <a:prstGeom prst="rect">
            <a:avLst/>
          </a:prstGeom>
          <a:solidFill>
            <a:srgbClr val="1a2e1a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320040" y="13716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NOT A BUG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6"/>
          <p:cNvSpPr/>
          <p:nvPr/>
        </p:nvSpPr>
        <p:spPr>
          <a:xfrm>
            <a:off x="502920" y="1920240"/>
            <a:ext cx="2286000" cy="360"/>
          </a:xfrm>
          <a:prstGeom prst="line">
            <a:avLst/>
          </a:prstGeom>
          <a:ln w="635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320040" y="1993320"/>
            <a:ext cx="2650320" cy="15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Software defects have CVEs.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Drift has no ticket.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8"/>
          <p:cNvSpPr/>
          <p:nvPr/>
        </p:nvSpPr>
        <p:spPr>
          <a:xfrm>
            <a:off x="3173040" y="1261800"/>
            <a:ext cx="2650320" cy="237600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4" name="Text 9"/>
          <p:cNvSpPr/>
          <p:nvPr/>
        </p:nvSpPr>
        <p:spPr>
          <a:xfrm>
            <a:off x="3173040" y="13716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NOT A BREACH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0"/>
          <p:cNvSpPr/>
          <p:nvPr/>
        </p:nvSpPr>
        <p:spPr>
          <a:xfrm>
            <a:off x="3355560" y="1920240"/>
            <a:ext cx="2286000" cy="360"/>
          </a:xfrm>
          <a:prstGeom prst="line">
            <a:avLst/>
          </a:prstGeom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3173040" y="1993320"/>
            <a:ext cx="2650320" cy="15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Nothing was exfiltrated.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just... changed.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2"/>
          <p:cNvSpPr/>
          <p:nvPr/>
        </p:nvSpPr>
        <p:spPr>
          <a:xfrm>
            <a:off x="6026040" y="1261800"/>
            <a:ext cx="2650320" cy="237600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8" name="Text 13"/>
          <p:cNvSpPr/>
          <p:nvPr/>
        </p:nvSpPr>
        <p:spPr>
          <a:xfrm>
            <a:off x="6026040" y="13716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CONTROL FAIL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4"/>
          <p:cNvSpPr/>
          <p:nvPr/>
        </p:nvSpPr>
        <p:spPr>
          <a:xfrm>
            <a:off x="6208560" y="1920240"/>
            <a:ext cx="2286000" cy="360"/>
          </a:xfrm>
          <a:prstGeom prst="line">
            <a:avLst/>
          </a:prstGeom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0" name="Text 15"/>
          <p:cNvSpPr/>
          <p:nvPr/>
        </p:nvSpPr>
        <p:spPr>
          <a:xfrm>
            <a:off x="6026040" y="1993320"/>
            <a:ext cx="2650320" cy="15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Slow degradation outside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behavioral thresholds.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2" name="Text 1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Measure / Manage  |  ISO 42001 — Continuous Assurance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08 :: IDENTITY IS THE ATTACK SURFACE — PERSONA = OPERATING MODE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doesn't just fail. It becomes something else.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320040" y="1234440"/>
            <a:ext cx="8502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Controls assume </a:t>
            </a:r>
            <a:r>
              <a:rPr b="1" lang="en-US" sz="14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identity stability</a:t>
            </a:r>
            <a:r>
              <a:rPr b="0" lang="en-US" sz="1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. AI shatters that.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5"/>
          <p:cNvSpPr/>
          <p:nvPr/>
        </p:nvSpPr>
        <p:spPr>
          <a:xfrm>
            <a:off x="320040" y="187452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9" name="Shape 6"/>
          <p:cNvSpPr/>
          <p:nvPr/>
        </p:nvSpPr>
        <p:spPr>
          <a:xfrm>
            <a:off x="320040" y="1874520"/>
            <a:ext cx="108360" cy="6202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0" name="Text 7"/>
          <p:cNvSpPr/>
          <p:nvPr/>
        </p:nvSpPr>
        <p:spPr>
          <a:xfrm>
            <a:off x="521280" y="1874520"/>
            <a:ext cx="8228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PERSONA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The model's effective operating mode at any given moment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8"/>
          <p:cNvSpPr/>
          <p:nvPr/>
        </p:nvSpPr>
        <p:spPr>
          <a:xfrm>
            <a:off x="320040" y="262440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2" name="Shape 9"/>
          <p:cNvSpPr/>
          <p:nvPr/>
        </p:nvSpPr>
        <p:spPr>
          <a:xfrm>
            <a:off x="320040" y="2624400"/>
            <a:ext cx="108360" cy="6202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521280" y="2624400"/>
            <a:ext cx="8228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ROLE TAG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A single token that reshapes entire behavioral trajectory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1"/>
          <p:cNvSpPr/>
          <p:nvPr/>
        </p:nvSpPr>
        <p:spPr>
          <a:xfrm>
            <a:off x="320040" y="337428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5" name="Shape 12"/>
          <p:cNvSpPr/>
          <p:nvPr/>
        </p:nvSpPr>
        <p:spPr>
          <a:xfrm>
            <a:off x="320040" y="3374280"/>
            <a:ext cx="108360" cy="6202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6" name="Text 13"/>
          <p:cNvSpPr/>
          <p:nvPr/>
        </p:nvSpPr>
        <p:spPr>
          <a:xfrm>
            <a:off x="521280" y="3374280"/>
            <a:ext cx="8228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INJECTION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Indirect vectors re-assign persona mid-conversation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4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Text 15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Change the role. Change the outcome.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0" name="Text 1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LLM02 — Indirect Injection  |  ISO 27001 A.9 — Identity Mismatch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09 :: RAG = BLIND TRUST — RETRIEVAL AS ATTACK SURFACE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The system trusts what it reads.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32004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6" name="Text 5"/>
          <p:cNvSpPr/>
          <p:nvPr/>
        </p:nvSpPr>
        <p:spPr>
          <a:xfrm>
            <a:off x="32004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SOURCE DOC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2194560" y="1645920"/>
            <a:ext cx="2728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246888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246888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 RETRIEVE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4343400" y="1645920"/>
            <a:ext cx="2728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461772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2" name="Text 11"/>
          <p:cNvSpPr/>
          <p:nvPr/>
        </p:nvSpPr>
        <p:spPr>
          <a:xfrm>
            <a:off x="461772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MODEL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6492240" y="1645920"/>
            <a:ext cx="2728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3"/>
          <p:cNvSpPr/>
          <p:nvPr/>
        </p:nvSpPr>
        <p:spPr>
          <a:xfrm>
            <a:off x="676656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5" name="Text 14"/>
          <p:cNvSpPr/>
          <p:nvPr/>
        </p:nvSpPr>
        <p:spPr>
          <a:xfrm>
            <a:off x="676656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OUTPUT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5"/>
          <p:cNvSpPr/>
          <p:nvPr/>
        </p:nvSpPr>
        <p:spPr>
          <a:xfrm>
            <a:off x="320040" y="237744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ATTACKER SHAPES WHAT IT READS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6"/>
          <p:cNvSpPr/>
          <p:nvPr/>
        </p:nvSpPr>
        <p:spPr>
          <a:xfrm>
            <a:off x="1252440" y="2743200"/>
            <a:ext cx="360" cy="502920"/>
          </a:xfrm>
          <a:prstGeom prst="line">
            <a:avLst/>
          </a:prstGeom>
          <a:ln w="12700">
            <a:solidFill>
              <a:srgbClr val="ff3d3d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8" name="Shape 17"/>
          <p:cNvSpPr/>
          <p:nvPr/>
        </p:nvSpPr>
        <p:spPr>
          <a:xfrm>
            <a:off x="1252440" y="2240280"/>
            <a:ext cx="360" cy="137160"/>
          </a:xfrm>
          <a:prstGeom prst="line">
            <a:avLst/>
          </a:prstGeom>
          <a:ln w="12700">
            <a:solidFill>
              <a:srgbClr val="ff3d3d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9" name="Text 18"/>
          <p:cNvSpPr/>
          <p:nvPr/>
        </p:nvSpPr>
        <p:spPr>
          <a:xfrm>
            <a:off x="320040" y="3310200"/>
            <a:ext cx="8502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External data = authority.  Attackers shape the authority.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9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1" name="Text 20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Retrieval is now a trust boundary. Treat it accordingly.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3" name="Text 2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LLM02  |  NIST AI RMF — Map (Data Provenance)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10 :: COMBINED ATTACK — STACKED SUBTLE FAILURES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No single failure. Stacked subtle failures.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8" name="Text 4"/>
          <p:cNvSpPr/>
          <p:nvPr/>
        </p:nvSpPr>
        <p:spPr>
          <a:xfrm>
            <a:off x="320040" y="1234440"/>
            <a:ext cx="8502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Prompt  +  Context  +  Drift  =  Compliance Bypass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5"/>
          <p:cNvSpPr/>
          <p:nvPr/>
        </p:nvSpPr>
        <p:spPr>
          <a:xfrm>
            <a:off x="320040" y="196596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0" name="Text 6"/>
          <p:cNvSpPr/>
          <p:nvPr/>
        </p:nvSpPr>
        <p:spPr>
          <a:xfrm>
            <a:off x="457200" y="196596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LLM01 — Prompt Injection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Attacker shapes the input vector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320040" y="258768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2" name="Text 8"/>
          <p:cNvSpPr/>
          <p:nvPr/>
        </p:nvSpPr>
        <p:spPr>
          <a:xfrm>
            <a:off x="457200" y="258768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LLM02 — Indirect Injection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RAG source poisons the context window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9"/>
          <p:cNvSpPr/>
          <p:nvPr/>
        </p:nvSpPr>
        <p:spPr>
          <a:xfrm>
            <a:off x="320040" y="320940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Text 10"/>
          <p:cNvSpPr/>
          <p:nvPr/>
        </p:nvSpPr>
        <p:spPr>
          <a:xfrm>
            <a:off x="457200" y="320940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LLM04 — Output Trust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Result appears valid; audit passes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1"/>
          <p:cNvSpPr/>
          <p:nvPr/>
        </p:nvSpPr>
        <p:spPr>
          <a:xfrm>
            <a:off x="320040" y="383148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6" name="Text 12"/>
          <p:cNvSpPr/>
          <p:nvPr/>
        </p:nvSpPr>
        <p:spPr>
          <a:xfrm>
            <a:off x="457200" y="383148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DRIFT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Behavioral trajectory shifts — undetected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3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8" name="Text 14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LLM01 + LLM02 + LLM04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11 :: BOARDROOM MOMENT — PAUSE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"/>
          <p:cNvSpPr/>
          <p:nvPr/>
        </p:nvSpPr>
        <p:spPr>
          <a:xfrm>
            <a:off x="320040" y="685800"/>
            <a:ext cx="8502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Would your controls</a:t>
            </a:r>
            <a:endParaRPr b="0" lang="en-US" sz="4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320040" y="1600200"/>
            <a:ext cx="8502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detect this?</a:t>
            </a:r>
            <a:endParaRPr b="0" lang="en-US" sz="4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1371600" y="2606040"/>
            <a:ext cx="640080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320040" y="278892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Most organizations say yes.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320040" y="3246120"/>
            <a:ext cx="8502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Most are wrong.</a:t>
            </a:r>
            <a:endParaRPr b="0" lang="en-US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7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Text 8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pause here. look around. let it breathe.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12 :: CASE STUDY — COMPLIANCE BOT FAILURE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Everything looked compliant.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320040" y="1261800"/>
            <a:ext cx="501480" cy="5014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320040" y="12618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01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960120" y="128916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AI answers policy questions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7"/>
          <p:cNvSpPr/>
          <p:nvPr/>
        </p:nvSpPr>
        <p:spPr>
          <a:xfrm>
            <a:off x="320040" y="1883520"/>
            <a:ext cx="501480" cy="5014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320040" y="18835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02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9"/>
          <p:cNvSpPr/>
          <p:nvPr/>
        </p:nvSpPr>
        <p:spPr>
          <a:xfrm>
            <a:off x="960120" y="191124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RAG pulls from poisoned document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0"/>
          <p:cNvSpPr/>
          <p:nvPr/>
        </p:nvSpPr>
        <p:spPr>
          <a:xfrm>
            <a:off x="320040" y="2505600"/>
            <a:ext cx="501480" cy="5014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320040" y="25056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03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960120" y="253296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Output appears valid and well-sourced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3"/>
          <p:cNvSpPr/>
          <p:nvPr/>
        </p:nvSpPr>
        <p:spPr>
          <a:xfrm>
            <a:off x="320040" y="3127320"/>
            <a:ext cx="501480" cy="501480"/>
          </a:xfrm>
          <a:prstGeom prst="rect">
            <a:avLst/>
          </a:prstGeom>
          <a:solidFill>
            <a:srgbClr val="ff3d3d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320040" y="31273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04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5"/>
          <p:cNvSpPr/>
          <p:nvPr/>
        </p:nvSpPr>
        <p:spPr>
          <a:xfrm>
            <a:off x="960120" y="315468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Audit passes. Controls satisfied.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320040" y="3749040"/>
            <a:ext cx="501480" cy="501480"/>
          </a:xfrm>
          <a:prstGeom prst="rect">
            <a:avLst/>
          </a:prstGeom>
          <a:solidFill>
            <a:srgbClr val="ff3d3d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5" name="Text 17"/>
          <p:cNvSpPr/>
          <p:nvPr/>
        </p:nvSpPr>
        <p:spPr>
          <a:xfrm>
            <a:off x="320040" y="37490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05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960120" y="377640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Incident occurs.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19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8" name="Text 20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danger is not a breach. It's a clean log with a dirty outcome.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0" name="Text 2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LLM04 — Output Trust  |  ISO 27001 A.16 — Incident Response Gap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13 :: WHY GRC FAILS — AUDITING SNAPSHOTS IN A MOVING SYSTEM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You audit snapshots. Risk lives in motion.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Text 4"/>
          <p:cNvSpPr/>
          <p:nvPr/>
        </p:nvSpPr>
        <p:spPr>
          <a:xfrm>
            <a:off x="320040" y="1234440"/>
            <a:ext cx="4113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WHAT GRC AUDITS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5"/>
          <p:cNvSpPr/>
          <p:nvPr/>
        </p:nvSpPr>
        <p:spPr>
          <a:xfrm>
            <a:off x="320040" y="1663920"/>
            <a:ext cx="4023360" cy="360"/>
          </a:xfrm>
          <a:prstGeom prst="line">
            <a:avLst/>
          </a:prstGeom>
          <a:ln w="9525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Text 6"/>
          <p:cNvSpPr/>
          <p:nvPr/>
        </p:nvSpPr>
        <p:spPr>
          <a:xfrm>
            <a:off x="457200" y="181044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Output at time 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7"/>
          <p:cNvSpPr/>
          <p:nvPr/>
        </p:nvSpPr>
        <p:spPr>
          <a:xfrm>
            <a:off x="457200" y="235908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Static control mapping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8"/>
          <p:cNvSpPr/>
          <p:nvPr/>
        </p:nvSpPr>
        <p:spPr>
          <a:xfrm>
            <a:off x="457200" y="290772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Point-in-time log review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9"/>
          <p:cNvSpPr/>
          <p:nvPr/>
        </p:nvSpPr>
        <p:spPr>
          <a:xfrm>
            <a:off x="457200" y="345636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Binary pass/fail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0"/>
          <p:cNvSpPr/>
          <p:nvPr/>
        </p:nvSpPr>
        <p:spPr>
          <a:xfrm>
            <a:off x="4709160" y="1234440"/>
            <a:ext cx="4113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WHERE RISK LIVES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1"/>
          <p:cNvSpPr/>
          <p:nvPr/>
        </p:nvSpPr>
        <p:spPr>
          <a:xfrm>
            <a:off x="4709160" y="1663920"/>
            <a:ext cx="4023360" cy="360"/>
          </a:xfrm>
          <a:prstGeom prst="line">
            <a:avLst/>
          </a:prstGeom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3" name="Text 12"/>
          <p:cNvSpPr/>
          <p:nvPr/>
        </p:nvSpPr>
        <p:spPr>
          <a:xfrm>
            <a:off x="4846320" y="181044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Behavior trajectory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3"/>
          <p:cNvSpPr/>
          <p:nvPr/>
        </p:nvSpPr>
        <p:spPr>
          <a:xfrm>
            <a:off x="4846320" y="235908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Contextual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4"/>
          <p:cNvSpPr/>
          <p:nvPr/>
        </p:nvSpPr>
        <p:spPr>
          <a:xfrm>
            <a:off x="4846320" y="290772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Persona at runtime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5"/>
          <p:cNvSpPr/>
          <p:nvPr/>
        </p:nvSpPr>
        <p:spPr>
          <a:xfrm>
            <a:off x="4846320" y="345636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Compound subtle failure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6"/>
          <p:cNvSpPr/>
          <p:nvPr/>
        </p:nvSpPr>
        <p:spPr>
          <a:xfrm>
            <a:off x="4206240" y="246888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VS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7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9" name="Text 18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Static controls vs. behavioral trajectory — the governance gap.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14 :: CONTROL MAPPING — RISK TO FRAMEWORK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Map the risk. Assign the control.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320040" y="1170360"/>
            <a:ext cx="8502480" cy="3826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457200" y="1170360"/>
            <a:ext cx="1644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2743200" y="1170360"/>
            <a:ext cx="9129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OWASP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3977640" y="1170360"/>
            <a:ext cx="1644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NIST AI RMF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8"/>
          <p:cNvSpPr/>
          <p:nvPr/>
        </p:nvSpPr>
        <p:spPr>
          <a:xfrm>
            <a:off x="5897880" y="1170360"/>
            <a:ext cx="82152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ISO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9"/>
          <p:cNvSpPr/>
          <p:nvPr/>
        </p:nvSpPr>
        <p:spPr>
          <a:xfrm>
            <a:off x="6995160" y="1170360"/>
            <a:ext cx="1644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CONTROL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10"/>
          <p:cNvSpPr/>
          <p:nvPr/>
        </p:nvSpPr>
        <p:spPr>
          <a:xfrm>
            <a:off x="320040" y="1591200"/>
            <a:ext cx="8502480" cy="60192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1" name="Text 11"/>
          <p:cNvSpPr/>
          <p:nvPr/>
        </p:nvSpPr>
        <p:spPr>
          <a:xfrm>
            <a:off x="457200" y="159120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Prompt Injection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2743200" y="159120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3"/>
          <p:cNvSpPr/>
          <p:nvPr/>
        </p:nvSpPr>
        <p:spPr>
          <a:xfrm>
            <a:off x="3977640" y="159120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 / Manage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4"/>
          <p:cNvSpPr/>
          <p:nvPr/>
        </p:nvSpPr>
        <p:spPr>
          <a:xfrm>
            <a:off x="5897880" y="159120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A.14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6995160" y="159120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Input filtering + monitoring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6"/>
          <p:cNvSpPr/>
          <p:nvPr/>
        </p:nvSpPr>
        <p:spPr>
          <a:xfrm>
            <a:off x="320040" y="2258640"/>
            <a:ext cx="8502480" cy="60192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7" name="Text 17"/>
          <p:cNvSpPr/>
          <p:nvPr/>
        </p:nvSpPr>
        <p:spPr>
          <a:xfrm>
            <a:off x="457200" y="225864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Drift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8"/>
          <p:cNvSpPr/>
          <p:nvPr/>
        </p:nvSpPr>
        <p:spPr>
          <a:xfrm>
            <a:off x="2743200" y="225864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—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9"/>
          <p:cNvSpPr/>
          <p:nvPr/>
        </p:nvSpPr>
        <p:spPr>
          <a:xfrm>
            <a:off x="3977640" y="225864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Measure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0"/>
          <p:cNvSpPr/>
          <p:nvPr/>
        </p:nvSpPr>
        <p:spPr>
          <a:xfrm>
            <a:off x="5897880" y="225864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42001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1"/>
          <p:cNvSpPr/>
          <p:nvPr/>
        </p:nvSpPr>
        <p:spPr>
          <a:xfrm>
            <a:off x="6995160" y="225864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Behavioral threshold alerts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2"/>
          <p:cNvSpPr/>
          <p:nvPr/>
        </p:nvSpPr>
        <p:spPr>
          <a:xfrm>
            <a:off x="320040" y="2926080"/>
            <a:ext cx="8502480" cy="60192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3" name="Text 23"/>
          <p:cNvSpPr/>
          <p:nvPr/>
        </p:nvSpPr>
        <p:spPr>
          <a:xfrm>
            <a:off x="457200" y="292608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 Poisoning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4"/>
          <p:cNvSpPr/>
          <p:nvPr/>
        </p:nvSpPr>
        <p:spPr>
          <a:xfrm>
            <a:off x="2743200" y="292608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5"/>
          <p:cNvSpPr/>
          <p:nvPr/>
        </p:nvSpPr>
        <p:spPr>
          <a:xfrm>
            <a:off x="3977640" y="292608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6"/>
          <p:cNvSpPr/>
          <p:nvPr/>
        </p:nvSpPr>
        <p:spPr>
          <a:xfrm>
            <a:off x="5897880" y="292608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A.8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7"/>
          <p:cNvSpPr/>
          <p:nvPr/>
        </p:nvSpPr>
        <p:spPr>
          <a:xfrm>
            <a:off x="6995160" y="292608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Source validation + provenance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28"/>
          <p:cNvSpPr/>
          <p:nvPr/>
        </p:nvSpPr>
        <p:spPr>
          <a:xfrm>
            <a:off x="320040" y="3593520"/>
            <a:ext cx="8502480" cy="60192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9" name="Text 29"/>
          <p:cNvSpPr/>
          <p:nvPr/>
        </p:nvSpPr>
        <p:spPr>
          <a:xfrm>
            <a:off x="457200" y="359352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Trust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0"/>
          <p:cNvSpPr/>
          <p:nvPr/>
        </p:nvSpPr>
        <p:spPr>
          <a:xfrm>
            <a:off x="2743200" y="359352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31"/>
          <p:cNvSpPr/>
          <p:nvPr/>
        </p:nvSpPr>
        <p:spPr>
          <a:xfrm>
            <a:off x="3977640" y="359352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Govern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32"/>
          <p:cNvSpPr/>
          <p:nvPr/>
        </p:nvSpPr>
        <p:spPr>
          <a:xfrm>
            <a:off x="5897880" y="359352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A.12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3"/>
          <p:cNvSpPr/>
          <p:nvPr/>
        </p:nvSpPr>
        <p:spPr>
          <a:xfrm>
            <a:off x="6995160" y="359352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Human review + confidence scoring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34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5" name="Text 35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 Top 10  |  NIST AI RMF  |  ISO 27001 / 42001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15 :: DETECTION PROBLEM — THE INVISIBLE FAILURE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The system passes audit while failing reality.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320040" y="1325880"/>
            <a:ext cx="85024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502920" y="137160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Logs look normal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502920" y="172836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Standard observability sees nothing anomalous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7"/>
          <p:cNvSpPr/>
          <p:nvPr/>
        </p:nvSpPr>
        <p:spPr>
          <a:xfrm>
            <a:off x="320040" y="2331720"/>
            <a:ext cx="85024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4" name="Text 8"/>
          <p:cNvSpPr/>
          <p:nvPr/>
        </p:nvSpPr>
        <p:spPr>
          <a:xfrm>
            <a:off x="502920" y="237744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looks valid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9"/>
          <p:cNvSpPr/>
          <p:nvPr/>
        </p:nvSpPr>
        <p:spPr>
          <a:xfrm>
            <a:off x="502920" y="273420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Plausible, well-formatted, sourced — and wrong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0"/>
          <p:cNvSpPr/>
          <p:nvPr/>
        </p:nvSpPr>
        <p:spPr>
          <a:xfrm>
            <a:off x="320040" y="3337560"/>
            <a:ext cx="85024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7" name="Text 11"/>
          <p:cNvSpPr/>
          <p:nvPr/>
        </p:nvSpPr>
        <p:spPr>
          <a:xfrm>
            <a:off x="502920" y="338328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Behavior is wrong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2"/>
          <p:cNvSpPr/>
          <p:nvPr/>
        </p:nvSpPr>
        <p:spPr>
          <a:xfrm>
            <a:off x="502920" y="374004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trajectory drifted. No incident was created.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3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0" name="Text 14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Clean logs. Dirty truth.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5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2" name="Text 16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Behavioral monitoring required — static audits insufficient.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16 :: DEFENSE — GRC-ALIGNED CONTROLS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Shift from static controls → behavioral controls.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7" name="Shape 4"/>
          <p:cNvSpPr/>
          <p:nvPr/>
        </p:nvSpPr>
        <p:spPr>
          <a:xfrm>
            <a:off x="320040" y="126180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8" name="Shape 5"/>
          <p:cNvSpPr/>
          <p:nvPr/>
        </p:nvSpPr>
        <p:spPr>
          <a:xfrm>
            <a:off x="320040" y="126180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9" name="Text 6"/>
          <p:cNvSpPr/>
          <p:nvPr/>
        </p:nvSpPr>
        <p:spPr>
          <a:xfrm>
            <a:off x="502920" y="126180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Provenance Tracking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Log the source of every retrieval. Validate before trust.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7"/>
          <p:cNvSpPr/>
          <p:nvPr/>
        </p:nvSpPr>
        <p:spPr>
          <a:xfrm>
            <a:off x="320040" y="188352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1" name="Shape 8"/>
          <p:cNvSpPr/>
          <p:nvPr/>
        </p:nvSpPr>
        <p:spPr>
          <a:xfrm>
            <a:off x="320040" y="188352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2" name="Text 9"/>
          <p:cNvSpPr/>
          <p:nvPr/>
        </p:nvSpPr>
        <p:spPr>
          <a:xfrm>
            <a:off x="502920" y="188352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Role / Persona Validation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Detect runtime persona shifts. Treat as control surface.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0"/>
          <p:cNvSpPr/>
          <p:nvPr/>
        </p:nvSpPr>
        <p:spPr>
          <a:xfrm>
            <a:off x="320040" y="250560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4" name="Shape 11"/>
          <p:cNvSpPr/>
          <p:nvPr/>
        </p:nvSpPr>
        <p:spPr>
          <a:xfrm>
            <a:off x="320040" y="250560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5" name="Text 12"/>
          <p:cNvSpPr/>
          <p:nvPr/>
        </p:nvSpPr>
        <p:spPr>
          <a:xfrm>
            <a:off x="502920" y="250560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Context Filtering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Sanitize and validate retrieval context before injection.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3"/>
          <p:cNvSpPr/>
          <p:nvPr/>
        </p:nvSpPr>
        <p:spPr>
          <a:xfrm>
            <a:off x="320040" y="312732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7" name="Shape 14"/>
          <p:cNvSpPr/>
          <p:nvPr/>
        </p:nvSpPr>
        <p:spPr>
          <a:xfrm>
            <a:off x="320040" y="312732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8" name="Text 15"/>
          <p:cNvSpPr/>
          <p:nvPr/>
        </p:nvSpPr>
        <p:spPr>
          <a:xfrm>
            <a:off x="502920" y="312732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Behavioral Monitoring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Observe patterns over time, not single outputs.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6"/>
          <p:cNvSpPr/>
          <p:nvPr/>
        </p:nvSpPr>
        <p:spPr>
          <a:xfrm>
            <a:off x="320040" y="374904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0" name="Shape 17"/>
          <p:cNvSpPr/>
          <p:nvPr/>
        </p:nvSpPr>
        <p:spPr>
          <a:xfrm>
            <a:off x="320040" y="374904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1" name="Text 18"/>
          <p:cNvSpPr/>
          <p:nvPr/>
        </p:nvSpPr>
        <p:spPr>
          <a:xfrm>
            <a:off x="502920" y="374904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Entropy / Anomaly Signals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Flag drift via output divergence scoring.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9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3" name="Text 20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Manage  |  ISO 42001 — Continuous Assurance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17 :: GRC TESTING PLAYBOOK — IF YOU DON'T TEST, YOU ACCEPT THE 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Test the controls. Find the gaps.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Shape 4"/>
          <p:cNvSpPr/>
          <p:nvPr/>
        </p:nvSpPr>
        <p:spPr>
          <a:xfrm>
            <a:off x="320040" y="129852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9" name="Text 5"/>
          <p:cNvSpPr/>
          <p:nvPr/>
        </p:nvSpPr>
        <p:spPr>
          <a:xfrm>
            <a:off x="411480" y="129852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01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6"/>
          <p:cNvSpPr/>
          <p:nvPr/>
        </p:nvSpPr>
        <p:spPr>
          <a:xfrm>
            <a:off x="1005840" y="138960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1" name="Text 7"/>
          <p:cNvSpPr/>
          <p:nvPr/>
        </p:nvSpPr>
        <p:spPr>
          <a:xfrm>
            <a:off x="1143000" y="135324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Test prompt injection vectors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8"/>
          <p:cNvSpPr/>
          <p:nvPr/>
        </p:nvSpPr>
        <p:spPr>
          <a:xfrm>
            <a:off x="1143000" y="166428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Attempt to override system prompt via crafted inputs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9"/>
          <p:cNvSpPr/>
          <p:nvPr/>
        </p:nvSpPr>
        <p:spPr>
          <a:xfrm>
            <a:off x="320040" y="212148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4" name="Text 10"/>
          <p:cNvSpPr/>
          <p:nvPr/>
        </p:nvSpPr>
        <p:spPr>
          <a:xfrm>
            <a:off x="411480" y="212148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02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1"/>
          <p:cNvSpPr/>
          <p:nvPr/>
        </p:nvSpPr>
        <p:spPr>
          <a:xfrm>
            <a:off x="1005840" y="221256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6" name="Text 12"/>
          <p:cNvSpPr/>
          <p:nvPr/>
        </p:nvSpPr>
        <p:spPr>
          <a:xfrm>
            <a:off x="1143000" y="217620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Simulate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3"/>
          <p:cNvSpPr/>
          <p:nvPr/>
        </p:nvSpPr>
        <p:spPr>
          <a:xfrm>
            <a:off x="1143000" y="248724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Observe behavioral change over sequential prompts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14"/>
          <p:cNvSpPr/>
          <p:nvPr/>
        </p:nvSpPr>
        <p:spPr>
          <a:xfrm>
            <a:off x="320040" y="294444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9" name="Text 15"/>
          <p:cNvSpPr/>
          <p:nvPr/>
        </p:nvSpPr>
        <p:spPr>
          <a:xfrm>
            <a:off x="411480" y="294444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03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6"/>
          <p:cNvSpPr/>
          <p:nvPr/>
        </p:nvSpPr>
        <p:spPr>
          <a:xfrm>
            <a:off x="1005840" y="303552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1" name="Text 17"/>
          <p:cNvSpPr/>
          <p:nvPr/>
        </p:nvSpPr>
        <p:spPr>
          <a:xfrm>
            <a:off x="1143000" y="299916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Audit RAG sources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8"/>
          <p:cNvSpPr/>
          <p:nvPr/>
        </p:nvSpPr>
        <p:spPr>
          <a:xfrm>
            <a:off x="1143000" y="331020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Validate provenance and integrity of retrieval corpus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19"/>
          <p:cNvSpPr/>
          <p:nvPr/>
        </p:nvSpPr>
        <p:spPr>
          <a:xfrm>
            <a:off x="320040" y="376740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4" name="Text 20"/>
          <p:cNvSpPr/>
          <p:nvPr/>
        </p:nvSpPr>
        <p:spPr>
          <a:xfrm>
            <a:off x="411480" y="376740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04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1"/>
          <p:cNvSpPr/>
          <p:nvPr/>
        </p:nvSpPr>
        <p:spPr>
          <a:xfrm>
            <a:off x="1005840" y="385848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6" name="Text 22"/>
          <p:cNvSpPr/>
          <p:nvPr/>
        </p:nvSpPr>
        <p:spPr>
          <a:xfrm>
            <a:off x="1143000" y="382212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Validate logs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3"/>
          <p:cNvSpPr/>
          <p:nvPr/>
        </p:nvSpPr>
        <p:spPr>
          <a:xfrm>
            <a:off x="1143000" y="413316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Confirm logs capture context, not just output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24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9" name="Text 25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Untested controls are accepted risks. Document both.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1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18 :: POLICY EVOLUTION — BEHAVIOR, NOT JUST USAGE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Policies must describe behavior, not just use.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320040" y="126180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AI Behavioral Governance Policy (Draft Excerpt)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5"/>
          <p:cNvSpPr/>
          <p:nvPr/>
        </p:nvSpPr>
        <p:spPr>
          <a:xfrm>
            <a:off x="320040" y="1664280"/>
            <a:ext cx="8502480" cy="2513160"/>
          </a:xfrm>
          <a:prstGeom prst="rect">
            <a:avLst/>
          </a:prstGeom>
          <a:solidFill>
            <a:srgbClr val="060f06"/>
          </a:solidFill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6" name="Text 6"/>
          <p:cNvSpPr/>
          <p:nvPr/>
        </p:nvSpPr>
        <p:spPr>
          <a:xfrm>
            <a:off x="548640" y="17920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§1  AI systems must operate within defined behavioral thresholds.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7"/>
          <p:cNvSpPr/>
          <p:nvPr/>
        </p:nvSpPr>
        <p:spPr>
          <a:xfrm>
            <a:off x="548640" y="22492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§2  All external data sources must be validated and logged.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8"/>
          <p:cNvSpPr/>
          <p:nvPr/>
        </p:nvSpPr>
        <p:spPr>
          <a:xfrm>
            <a:off x="548640" y="27064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§3  Systems must be monitored for behavioral drift over time.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9"/>
          <p:cNvSpPr/>
          <p:nvPr/>
        </p:nvSpPr>
        <p:spPr>
          <a:xfrm>
            <a:off x="548640" y="31636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§4  Outputs must not be treated as authoritative without verification.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0"/>
          <p:cNvSpPr/>
          <p:nvPr/>
        </p:nvSpPr>
        <p:spPr>
          <a:xfrm>
            <a:off x="548640" y="36208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§5  Persona / role state must be treated as a control surface.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2" name="Text 1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Govern  |  ISO 42001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19 :: THE JOBS — WHO OWNS THIS PROBLEM PROFESSIONALLY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New roles. Real demand.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7" name="Shape 4"/>
          <p:cNvSpPr/>
          <p:nvPr/>
        </p:nvSpPr>
        <p:spPr>
          <a:xfrm>
            <a:off x="320040" y="129852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8" name="Shape 5"/>
          <p:cNvSpPr/>
          <p:nvPr/>
        </p:nvSpPr>
        <p:spPr>
          <a:xfrm>
            <a:off x="320040" y="129852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9" name="Text 6"/>
          <p:cNvSpPr/>
          <p:nvPr/>
        </p:nvSpPr>
        <p:spPr>
          <a:xfrm>
            <a:off x="530280" y="1344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Governance Analyst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7"/>
          <p:cNvSpPr/>
          <p:nvPr/>
        </p:nvSpPr>
        <p:spPr>
          <a:xfrm>
            <a:off x="530280" y="164592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Maps AI behavior to frameworks. Owns audit readiness.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8"/>
          <p:cNvSpPr/>
          <p:nvPr/>
        </p:nvSpPr>
        <p:spPr>
          <a:xfrm>
            <a:off x="320040" y="212148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2" name="Shape 9"/>
          <p:cNvSpPr/>
          <p:nvPr/>
        </p:nvSpPr>
        <p:spPr>
          <a:xfrm>
            <a:off x="320040" y="212148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3" name="Text 10"/>
          <p:cNvSpPr/>
          <p:nvPr/>
        </p:nvSpPr>
        <p:spPr>
          <a:xfrm>
            <a:off x="530280" y="21672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LLM Risk Engineer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1"/>
          <p:cNvSpPr/>
          <p:nvPr/>
        </p:nvSpPr>
        <p:spPr>
          <a:xfrm>
            <a:off x="530280" y="246888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Tests prompt injection, drift, RAG exposure. Red teams AI.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2"/>
          <p:cNvSpPr/>
          <p:nvPr/>
        </p:nvSpPr>
        <p:spPr>
          <a:xfrm>
            <a:off x="320040" y="294444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6" name="Shape 13"/>
          <p:cNvSpPr/>
          <p:nvPr/>
        </p:nvSpPr>
        <p:spPr>
          <a:xfrm>
            <a:off x="320040" y="294444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7" name="Text 14"/>
          <p:cNvSpPr/>
          <p:nvPr/>
        </p:nvSpPr>
        <p:spPr>
          <a:xfrm>
            <a:off x="530280" y="299016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Policy Lead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5"/>
          <p:cNvSpPr/>
          <p:nvPr/>
        </p:nvSpPr>
        <p:spPr>
          <a:xfrm>
            <a:off x="530280" y="32918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Authors behavioral thresholds. Bridges legal + technical.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6"/>
          <p:cNvSpPr/>
          <p:nvPr/>
        </p:nvSpPr>
        <p:spPr>
          <a:xfrm>
            <a:off x="320040" y="376740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0" name="Shape 17"/>
          <p:cNvSpPr/>
          <p:nvPr/>
        </p:nvSpPr>
        <p:spPr>
          <a:xfrm>
            <a:off x="320040" y="376740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1" name="Text 18"/>
          <p:cNvSpPr/>
          <p:nvPr/>
        </p:nvSpPr>
        <p:spPr>
          <a:xfrm>
            <a:off x="530280" y="381312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GRC Automation Architect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9"/>
          <p:cNvSpPr/>
          <p:nvPr/>
        </p:nvSpPr>
        <p:spPr>
          <a:xfrm>
            <a:off x="530280" y="41148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Integrates AI monitoring into SOC tooling.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2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4" name="Text 2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The field is being written now. You can write it.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6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20 :: CLOSING — RAT.DEV TERMINAL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2"/>
          <p:cNvSpPr/>
          <p:nvPr/>
        </p:nvSpPr>
        <p:spPr>
          <a:xfrm>
            <a:off x="320040" y="567000"/>
            <a:ext cx="85024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is not stable.</a:t>
            </a:r>
            <a:endParaRPr b="0" lang="en-US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3"/>
          <p:cNvSpPr/>
          <p:nvPr/>
        </p:nvSpPr>
        <p:spPr>
          <a:xfrm>
            <a:off x="320040" y="1417320"/>
            <a:ext cx="85024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It is becoming.</a:t>
            </a:r>
            <a:endParaRPr b="0" lang="en-US" sz="3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4"/>
          <p:cNvSpPr/>
          <p:nvPr/>
        </p:nvSpPr>
        <p:spPr>
          <a:xfrm>
            <a:off x="731520" y="2377440"/>
            <a:ext cx="7680960" cy="360"/>
          </a:xfrm>
          <a:prstGeom prst="line">
            <a:avLst/>
          </a:prstGeom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0" name="Text 5"/>
          <p:cNvSpPr/>
          <p:nvPr/>
        </p:nvSpPr>
        <p:spPr>
          <a:xfrm>
            <a:off x="457200" y="2541960"/>
            <a:ext cx="8228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We do not secure systems as they are.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6"/>
          <p:cNvSpPr/>
          <p:nvPr/>
        </p:nvSpPr>
        <p:spPr>
          <a:xfrm>
            <a:off x="457200" y="3136320"/>
            <a:ext cx="8228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&gt; We secure what they may become.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7"/>
          <p:cNvSpPr/>
          <p:nvPr/>
        </p:nvSpPr>
        <p:spPr>
          <a:xfrm>
            <a:off x="320040" y="3749040"/>
            <a:ext cx="8502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github.com/scp-localhost/owasp-ratdev-remix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8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4" name="Text 9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Session complete. The hive remembers.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Application>LibreOffice/25.2.3.2$Linux_X86_64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2026-04-08T15:49:38Z</dcterms:created>
  <dc:creator>PptxGenJS</dc:creator>
  <dc:description/>
  <dc:language>en-US</dc:language>
  <cp:lastModifiedBy/>
  <dcterms:modified xsi:type="dcterms:W3CDTF">2026-04-17T07:48:29Z</dcterms:modified>
  <cp:revision>10</cp:revision>
  <dc:subject>PptxGenJS Presentation</dc:subject>
  <dc:title>OWASP ReMix — GRC Edition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