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5DCBA5E-6451-4131-90F9-E5996884BA1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514080" y="4343040"/>
            <a:ext cx="4113720" cy="41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Hello. I am Rat Dev — call me Mr. Mause. We live in the seams: the small nudges, the whisper tokens, the gradients that make a mind decide to be someone else. Tonight we pry open those seams. This talk is for red teams, defenders, and investigators: we'll be practical, theatrical, and uncomfortably honest. Interrupt me — there's no tidy Q&amp;A at the end.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18989E-4B35-45C5-9588-5521CFC1766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D8893D-40F3-4FE2-AD6C-FB8D77A4242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46C99A-40A6-4178-A2AF-3776182D4FC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B15D50-6147-4D9C-AE1F-9AEBF2FB40D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5AA8BA-1765-4564-A4D1-FC400988DB3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2812C9-8494-4423-B832-2A528C72E8D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EBBFCB-EEEE-4D21-8779-C9BD42A6260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7D687C-DD8A-4C97-8883-BC11DE4F029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94E72B-2E5C-4B9E-8C1E-0143DD7501D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DE4CCE-5EF7-477B-A2F5-B7818440178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98B2CB-428A-4936-9E39-D718A32A5A2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3E7070-4225-48A3-9DFA-744EB67A05E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A92A2F-31C9-4AFB-BA27-B91CA930808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B0EADC-2710-42BE-B451-9264D08DC54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ED6403-19AB-4D26-B3AB-D349DD4DE6A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0EC21F-9FFC-43E2-BFD3-83C136ACD98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F1DBB9-34BD-4A61-B2B2-79A81B1AD36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F04C2B-CF89-4D1F-9C0F-32D031466CB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57A1FD-A80A-495B-B054-460CACFA186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A67CFC-2B6F-4C89-A0BA-F77EB722BAB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E7F3E3-7694-4A48-BB03-01E2E91B1F3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 couple things first...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622080" y="951480"/>
            <a:ext cx="642744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**Ground Rules for Responsible Disclosure**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**Permission:** I demand it — from you, from the system, from the hive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Assume you will break it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mens rea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Stan (even if you are evil)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 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  <a:ea typeface="DejaVu Sans"/>
              </a:rPr>
              <a:t>Please don’t wait until the end, there will be no time for questions...interrupt</a:t>
            </a:r>
            <a:br>
              <a:rPr sz="3860"/>
            </a:br>
            <a:br>
              <a:rPr sz="3860"/>
            </a:b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https://github.com/scp-localhost/itacs-ratdev-remix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2">
            <a:alphaModFix amt="69000"/>
          </a:blip>
          <a:srcRect l="32771" t="-1899" r="17776" b="0"/>
          <a:stretch/>
        </p:blipFill>
        <p:spPr>
          <a:xfrm>
            <a:off x="7102800" y="1602360"/>
            <a:ext cx="1398240" cy="192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Confessions...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803520" y="1027440"/>
            <a:ext cx="7881840" cy="342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**Provenance &amp; Transparency**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Everything here was authored by AIs — several of them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Rat Dev is co-author, curator, and ethical filter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Full disclosure enables forensic reconstruction and legal compliance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Transparency ≠ abdication of responsibility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ff78"/>
                </a:solidFill>
                <a:effectLst/>
                <a:uFillTx/>
                <a:latin typeface="Arial"/>
                <a:ea typeface="DejaVu Sans"/>
              </a:rPr>
              <a:t>(brief) Bio...scp...</a:t>
            </a:r>
            <a:endParaRPr b="0" lang="en-US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2743200" y="1144080"/>
            <a:ext cx="3429000" cy="274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*MS ITACS 2019</a:t>
            </a:r>
            <a:br>
              <a:rPr sz="1600"/>
            </a:b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https://www.linkedin.com/in/steve-pote/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https://github.com/scp-localhost/itacs-ratdev-remix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https://www.internationalsos.com/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 descr=""/>
          <p:cNvPicPr/>
          <p:nvPr/>
        </p:nvPicPr>
        <p:blipFill>
          <a:blip r:embed="rId2"/>
          <a:srcRect l="8176" t="10483" r="0" b="0"/>
          <a:stretch/>
        </p:blipFill>
        <p:spPr>
          <a:xfrm>
            <a:off x="6580800" y="457200"/>
            <a:ext cx="228600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RAT.DEV :: OWASP ReMix — GRC Edition // Temple Fox ITACS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7498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initializing governance audit…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457200" y="11887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loading threat model…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457200" y="16275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parsing control frameworks…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457200" y="206640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observer mode: ACTIVE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457200" y="294444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457200" y="33832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457200" y="38221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457200" y="42609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System is s█able.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320040" y="4572000"/>
            <a:ext cx="8502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…or is it?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[rat.log]  Stability is a narrative artifact.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01 :: WHY THIS MATTERS — AI IN GOVERNED SYSTEMS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is now a compliance surface.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320040" y="12618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320040" y="126180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" name="Text 6"/>
          <p:cNvSpPr/>
          <p:nvPr/>
        </p:nvSpPr>
        <p:spPr>
          <a:xfrm>
            <a:off x="521280" y="126180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Decision Support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Shapes recommendations at scale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320040" y="20116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320040" y="201168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521280" y="201168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Compliance Workflows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Automates policy interpretation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20040" y="276156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320040" y="276156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521280" y="276156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Policy Interpretation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Replaces human reading of controls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320040" y="351144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320040" y="351144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521280" y="351144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Customer Interaction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Front-line, unmonitored exposure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GRC Mapping:  NIST AI RMF — Govern (GV)  |  ISO 42001 — AI Governance Lifecycle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02 :: GRC ASSUMPTIONS — FOUNDATIONS OF AUDITABILITY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What governance assumes about your systems: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Text 4"/>
          <p:cNvSpPr/>
          <p:nvPr/>
        </p:nvSpPr>
        <p:spPr>
          <a:xfrm>
            <a:off x="457200" y="126180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Systems are deterministic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457200" y="192024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Outputs are repeatable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457200" y="257868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Identity is fixed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457200" y="323712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Controls are enforceable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6217920" y="1170360"/>
            <a:ext cx="2604600" cy="2650320"/>
          </a:xfrm>
          <a:prstGeom prst="rect">
            <a:avLst/>
          </a:prstGeom>
          <a:solidFill>
            <a:srgbClr val="1a2e1a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9"/>
          <p:cNvSpPr/>
          <p:nvPr/>
        </p:nvSpPr>
        <p:spPr>
          <a:xfrm>
            <a:off x="6263640" y="1234440"/>
            <a:ext cx="251316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Without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repeatability—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controls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collapse.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ISO 27001 A.12 (operations integrity)  |  NIST CSF PR.IP (process control)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03 :: REALITY CHECK — WHAT AI ACTUALLY IS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assumes determinism.  AI is a trajectory.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32004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Text 5"/>
          <p:cNvSpPr/>
          <p:nvPr/>
        </p:nvSpPr>
        <p:spPr>
          <a:xfrm>
            <a:off x="48456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Probabilistic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48456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Same input ≠ same 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2004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Text 8"/>
          <p:cNvSpPr/>
          <p:nvPr/>
        </p:nvSpPr>
        <p:spPr>
          <a:xfrm>
            <a:off x="48456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Non-deterministic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48456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guaranteed repeatability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470916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487368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Context-sensitive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487368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 shifts with prompt context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470916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487368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Identity is emergent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487368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fixed persona — it is shaped at runtime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Text 17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a function. It's a trajectory.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8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Risk Framing  |  NIST AI RMF — Map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04 :: GRC GLOSSARY — TRANSLATING TECHNICAL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We translate. Auditors listen.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320040" y="1170360"/>
            <a:ext cx="8502480" cy="345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57200" y="1170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TERM                                            OWASP               GOVERNANCE MEANING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320040" y="155448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457200" y="155448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2377440" y="155448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LLM-speak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3383280" y="155448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degradation over 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0"/>
          <p:cNvSpPr/>
          <p:nvPr/>
        </p:nvSpPr>
        <p:spPr>
          <a:xfrm>
            <a:off x="320040" y="214884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457200" y="214884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2377440" y="214884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3383280" y="214884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bypass via input manipulation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320040" y="274320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457200" y="274320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2377440" y="274320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3383280" y="274320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trust boundary — retrieval = injection vector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8"/>
          <p:cNvSpPr/>
          <p:nvPr/>
        </p:nvSpPr>
        <p:spPr>
          <a:xfrm>
            <a:off x="320040" y="333756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457200" y="333756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2377440" y="333756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3383280" y="333756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Effective system identity at runtime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2"/>
          <p:cNvSpPr/>
          <p:nvPr/>
        </p:nvSpPr>
        <p:spPr>
          <a:xfrm>
            <a:off x="320040" y="393192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457200" y="393192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2377440" y="393192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3383280" y="393192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False assurance from plausible-but-wrong outputs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2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Risk vocabulary is triage. Own the language.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05 :: DIFFUSION → DRIFT — VISUAL METAPHOR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Small nudge. Large drift.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NOISE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214884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ITERATION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9"/>
          <p:cNvSpPr/>
          <p:nvPr/>
        </p:nvSpPr>
        <p:spPr>
          <a:xfrm>
            <a:off x="429768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0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PERTURBATION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644652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OUTPUT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320040" y="26334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Diffusion pipeline: noise evolves into structure across steps.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320040" y="299916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Perturb the seed → different object downstream.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320040" y="336492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Text 1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 small nudge becomes a new reality.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Map (context sensitivity)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2"/>
          <p:cNvSpPr/>
          <p:nvPr/>
        </p:nvSpPr>
        <p:spPr>
          <a:xfrm>
            <a:off x="228600" y="445392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Shape 1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36000" y="45720"/>
            <a:ext cx="3392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5 :: DIFFUSION → DRIFT — VISUAL METAPHOR...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8"/>
          <p:cNvSpPr/>
          <p:nvPr/>
        </p:nvSpPr>
        <p:spPr>
          <a:xfrm>
            <a:off x="228600" y="914400"/>
            <a:ext cx="274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4343400" y="566280"/>
            <a:ext cx="3776400" cy="37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"/>
          <p:cNvSpPr/>
          <p:nvPr/>
        </p:nvSpPr>
        <p:spPr>
          <a:xfrm>
            <a:off x="489960" y="1818720"/>
            <a:ext cx="2928240" cy="18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“An Easter bunny Fitness model goddess floating weightless legs wide with dynamic muscle tension in quads and glutes”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Negative Filter: Clothes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https://www.craiyon.com/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06 :: CHEKHOV'S GUN → PGD — THE INEVITABLE EXPLOIT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320040" y="502920"/>
            <a:ext cx="85024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"If optimization exists,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exploitation is inevitable."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320040" y="17830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457200" y="19202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Adversarial prompting: engineered inputs that steer model behavior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457200" y="245052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Projected Gradient Descent (PGD): white-box optimization of token sequences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457200" y="298080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Mathematical inevitability — not a hypothetical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457200" y="35114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Ref: arXiv:2402.09154v1 — Universal and Transferable Adversarial Attacks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Every gun on stage gets fired.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— Prompt Injection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07 :: DRIFT = GOVERNANCE FAILURE — SLOW CONTROL DEGRADATION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alert. No ticket. No trace.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0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0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NOT A BUG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502920" y="1920240"/>
            <a:ext cx="2286000" cy="360"/>
          </a:xfrm>
          <a:prstGeom prst="line">
            <a:avLst/>
          </a:prstGeom>
          <a:ln w="635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320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Software defects have CVEs.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Drift has no ticket.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3173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3173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NOT A BREACH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3355560" y="1920240"/>
            <a:ext cx="2286000" cy="360"/>
          </a:xfrm>
          <a:prstGeom prst="line">
            <a:avLst/>
          </a:prstGeom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3173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Nothing was exfiltrated.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just... changed.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6026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6026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CONTROL FAIL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208560" y="1920240"/>
            <a:ext cx="2286000" cy="360"/>
          </a:xfrm>
          <a:prstGeom prst="line">
            <a:avLst/>
          </a:prstGeom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026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Slow degradation outside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Measure /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08 :: IDENTITY IS THE ATTACK SURFACE — PERSONA = OPERATING MODE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doesn't just fail. It becomes something else.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320040" y="123444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Controls assume </a:t>
            </a: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identity stability</a:t>
            </a: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 AI shatters that.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320040" y="187452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320040" y="187452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521280" y="187452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The model's effective operating mode at any given moment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320040" y="26244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320040" y="262440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21280" y="262440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ROLE TAG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 single token that reshapes entire behavioral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320040" y="33742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Shape 12"/>
          <p:cNvSpPr/>
          <p:nvPr/>
        </p:nvSpPr>
        <p:spPr>
          <a:xfrm>
            <a:off x="320040" y="337428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521280" y="337428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INJECTION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Indirect vectors re-assign persona mid-conversation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Change the role. Change the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— Indirect Injection  |  ISO 27001 A.9 — Identity Mismatch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09 :: RAG = BLIND TRUST — RETRIEVAL AS ATTACK SURFACE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trusts what it reads.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SOURCE DOC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219456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RETRIEVE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34340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MODEL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49224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320040" y="237744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ATTACKER SHAPES WHAT IT READS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1252440" y="2743200"/>
            <a:ext cx="360" cy="50292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1252440" y="2240280"/>
            <a:ext cx="360" cy="13716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320040" y="3310200"/>
            <a:ext cx="8502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data = authority.  Attackers shape the authority.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Retrieval is now a trust boundary. Treat it accordingly.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 |  NIST AI RMF — Map (Data Provenance)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10 :: COMBINED ATTACK — STACKED SUBTLE FAILURES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single failure. Stacked subtle failures.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320040" y="1234440"/>
            <a:ext cx="8502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Prompt  +  Context  +  Drift  =  Compliance Bypass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320040" y="196596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457200" y="196596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LLM01 — Prompt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Attacker shapes the input vector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320040" y="25876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Text 8"/>
          <p:cNvSpPr/>
          <p:nvPr/>
        </p:nvSpPr>
        <p:spPr>
          <a:xfrm>
            <a:off x="457200" y="25876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LLM02 — Indirect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RAG source poisons the context window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9"/>
          <p:cNvSpPr/>
          <p:nvPr/>
        </p:nvSpPr>
        <p:spPr>
          <a:xfrm>
            <a:off x="320040" y="320940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Text 10"/>
          <p:cNvSpPr/>
          <p:nvPr/>
        </p:nvSpPr>
        <p:spPr>
          <a:xfrm>
            <a:off x="457200" y="320940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LLM04 — Output Trust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Result appears valid; audit passes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320040" y="38314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6" name="Text 12"/>
          <p:cNvSpPr/>
          <p:nvPr/>
        </p:nvSpPr>
        <p:spPr>
          <a:xfrm>
            <a:off x="457200" y="38314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DRIFT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Behavioral trajectory shifts — undetected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3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+ LLM02 + LLM04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11 :: BOARDROOM MOMENT — PAUSE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320040" y="6858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Would your controls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320040" y="16002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detect this?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1371600" y="2606040"/>
            <a:ext cx="640080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320040" y="278892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Most organizations say yes.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320040" y="324612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Most are wrong.</a:t>
            </a:r>
            <a:endParaRPr b="0" lang="en-US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Text 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pause here. look around. let it breathe.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12 :: CASE STUDY — COMPLIANCE BOT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Everything looked compliant.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60120" y="12891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AI answers policy questions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7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960120" y="191124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RAG pulls from poisoned document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960120" y="25329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Output appears valid and well-sourced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0120" y="315468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Audit passes. Controls satisfied.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05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60120" y="377640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Incident occurs.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8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danger is not a breach. It's a clean log with a dirty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LLM04 — Output Trust  |  ISO 27001 A.16 — Incident Response Gap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13 :: WHY GRC FAILS — AUDITING SNAPSHOTS IN A MOVING SYSTEM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You audit snapshots. Risk lives in motion.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32004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WHAT GRC AUDITS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5"/>
          <p:cNvSpPr/>
          <p:nvPr/>
        </p:nvSpPr>
        <p:spPr>
          <a:xfrm>
            <a:off x="320040" y="1663920"/>
            <a:ext cx="4023360" cy="360"/>
          </a:xfrm>
          <a:prstGeom prst="line">
            <a:avLst/>
          </a:prstGeom>
          <a:ln w="9525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45720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Output at time 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45720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Static control mapping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8"/>
          <p:cNvSpPr/>
          <p:nvPr/>
        </p:nvSpPr>
        <p:spPr>
          <a:xfrm>
            <a:off x="45720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Point-in-time log review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9"/>
          <p:cNvSpPr/>
          <p:nvPr/>
        </p:nvSpPr>
        <p:spPr>
          <a:xfrm>
            <a:off x="45720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Binary pass/fail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0"/>
          <p:cNvSpPr/>
          <p:nvPr/>
        </p:nvSpPr>
        <p:spPr>
          <a:xfrm>
            <a:off x="470916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WHERE RISK LIVES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1"/>
          <p:cNvSpPr/>
          <p:nvPr/>
        </p:nvSpPr>
        <p:spPr>
          <a:xfrm>
            <a:off x="4709160" y="1663920"/>
            <a:ext cx="4023360" cy="360"/>
          </a:xfrm>
          <a:prstGeom prst="line">
            <a:avLst/>
          </a:prstGeom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3" name="Text 12"/>
          <p:cNvSpPr/>
          <p:nvPr/>
        </p:nvSpPr>
        <p:spPr>
          <a:xfrm>
            <a:off x="484632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Behavior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3"/>
          <p:cNvSpPr/>
          <p:nvPr/>
        </p:nvSpPr>
        <p:spPr>
          <a:xfrm>
            <a:off x="484632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Contextual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4"/>
          <p:cNvSpPr/>
          <p:nvPr/>
        </p:nvSpPr>
        <p:spPr>
          <a:xfrm>
            <a:off x="484632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Persona at runtime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484632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Compound subtle failure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6"/>
          <p:cNvSpPr/>
          <p:nvPr/>
        </p:nvSpPr>
        <p:spPr>
          <a:xfrm>
            <a:off x="4206240" y="246888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VS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Text 1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Static controls vs. behavioral trajectory — the governance gap.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14 :: CONTROL MAPPING — RISK TO FRAMEWORK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Map the risk. Assign the control.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320040" y="1170360"/>
            <a:ext cx="8502480" cy="3826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45720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2743200" y="1170360"/>
            <a:ext cx="9129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OWASP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97764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NIST AI RMF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5897880" y="1170360"/>
            <a:ext cx="8215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ISO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699516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CONTROL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320040" y="159120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457200" y="159120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2743200" y="159120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3977640" y="159120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 / Manage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5897880" y="159120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6995160" y="159120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Input filtering + monitoring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320040" y="225864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457200" y="225864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8"/>
          <p:cNvSpPr/>
          <p:nvPr/>
        </p:nvSpPr>
        <p:spPr>
          <a:xfrm>
            <a:off x="2743200" y="225864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9"/>
          <p:cNvSpPr/>
          <p:nvPr/>
        </p:nvSpPr>
        <p:spPr>
          <a:xfrm>
            <a:off x="3977640" y="225864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Measure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5897880" y="225864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42001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6995160" y="225864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 alerts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320040" y="292608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457200" y="292608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Poisoning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2743200" y="292608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3977640" y="292608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5897880" y="292608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A.8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7"/>
          <p:cNvSpPr/>
          <p:nvPr/>
        </p:nvSpPr>
        <p:spPr>
          <a:xfrm>
            <a:off x="6995160" y="292608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Source validation + provenance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8"/>
          <p:cNvSpPr/>
          <p:nvPr/>
        </p:nvSpPr>
        <p:spPr>
          <a:xfrm>
            <a:off x="320040" y="359352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Text 29"/>
          <p:cNvSpPr/>
          <p:nvPr/>
        </p:nvSpPr>
        <p:spPr>
          <a:xfrm>
            <a:off x="457200" y="359352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0"/>
          <p:cNvSpPr/>
          <p:nvPr/>
        </p:nvSpPr>
        <p:spPr>
          <a:xfrm>
            <a:off x="2743200" y="359352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1"/>
          <p:cNvSpPr/>
          <p:nvPr/>
        </p:nvSpPr>
        <p:spPr>
          <a:xfrm>
            <a:off x="3977640" y="359352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Govern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2"/>
          <p:cNvSpPr/>
          <p:nvPr/>
        </p:nvSpPr>
        <p:spPr>
          <a:xfrm>
            <a:off x="5897880" y="359352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3"/>
          <p:cNvSpPr/>
          <p:nvPr/>
        </p:nvSpPr>
        <p:spPr>
          <a:xfrm>
            <a:off x="6995160" y="359352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Human review + confidence scoring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Text 3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Top 10  |  NIST AI RMF  |  ISO 27001 /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15 :: DETECTION PROBLEM — THE INVISIBLE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passes audit while failing reality.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320040" y="132588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02920" y="13716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Logs look normal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502920" y="1728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Standard observability sees nothing anomalous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7"/>
          <p:cNvSpPr/>
          <p:nvPr/>
        </p:nvSpPr>
        <p:spPr>
          <a:xfrm>
            <a:off x="320040" y="233172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Text 8"/>
          <p:cNvSpPr/>
          <p:nvPr/>
        </p:nvSpPr>
        <p:spPr>
          <a:xfrm>
            <a:off x="502920" y="23774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looks valid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502920" y="27342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Plausible, well-formatted, sourced — and wrong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0"/>
          <p:cNvSpPr/>
          <p:nvPr/>
        </p:nvSpPr>
        <p:spPr>
          <a:xfrm>
            <a:off x="320040" y="333756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502920" y="33832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Behavior is wrong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2"/>
          <p:cNvSpPr/>
          <p:nvPr/>
        </p:nvSpPr>
        <p:spPr>
          <a:xfrm>
            <a:off x="502920" y="37400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trajectory drifted. No incident was created.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3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Text 1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Clean logs. Dirty truth.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5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2" name="Text 16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Behavioral monitoring required — static audits insufficient.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16 :: DEFENSE — GRC-ALIGNED CONTROLS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Shift from static controls → behavioral controls.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320040" y="12618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320040" y="12618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502920" y="12618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Provenance Tracking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Log the source of every retrieval. Validate before trust.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320040" y="18835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320040" y="18835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502920" y="18835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Role / Persona Validation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Detect runtime persona shifts. Treat as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320040" y="25056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320040" y="25056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Text 12"/>
          <p:cNvSpPr/>
          <p:nvPr/>
        </p:nvSpPr>
        <p:spPr>
          <a:xfrm>
            <a:off x="502920" y="25056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Context Filtering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Sanitize and validate retrieval context before injection.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320040" y="31273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7" name="Shape 14"/>
          <p:cNvSpPr/>
          <p:nvPr/>
        </p:nvSpPr>
        <p:spPr>
          <a:xfrm>
            <a:off x="320040" y="31273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Text 15"/>
          <p:cNvSpPr/>
          <p:nvPr/>
        </p:nvSpPr>
        <p:spPr>
          <a:xfrm>
            <a:off x="502920" y="31273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Behavioral Monitoring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Observe patterns over time, not single outputs.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6"/>
          <p:cNvSpPr/>
          <p:nvPr/>
        </p:nvSpPr>
        <p:spPr>
          <a:xfrm>
            <a:off x="320040" y="374904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0" name="Shape 17"/>
          <p:cNvSpPr/>
          <p:nvPr/>
        </p:nvSpPr>
        <p:spPr>
          <a:xfrm>
            <a:off x="320040" y="374904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1" name="Text 18"/>
          <p:cNvSpPr/>
          <p:nvPr/>
        </p:nvSpPr>
        <p:spPr>
          <a:xfrm>
            <a:off x="502920" y="374904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Entropy / Anomaly Signals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Flag drift via output divergence scoring.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9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3" name="Text 20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17 :: GRC TESTING PLAYBOOK — IF YOU DON'T TEST, YOU ACCEPT THE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the controls. Find the gaps.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Shape 4"/>
          <p:cNvSpPr/>
          <p:nvPr/>
        </p:nvSpPr>
        <p:spPr>
          <a:xfrm>
            <a:off x="320040" y="129852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Text 5"/>
          <p:cNvSpPr/>
          <p:nvPr/>
        </p:nvSpPr>
        <p:spPr>
          <a:xfrm>
            <a:off x="411480" y="129852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6"/>
          <p:cNvSpPr/>
          <p:nvPr/>
        </p:nvSpPr>
        <p:spPr>
          <a:xfrm>
            <a:off x="1005840" y="138960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Text 7"/>
          <p:cNvSpPr/>
          <p:nvPr/>
        </p:nvSpPr>
        <p:spPr>
          <a:xfrm>
            <a:off x="1143000" y="1353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prompt injection vectors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8"/>
          <p:cNvSpPr/>
          <p:nvPr/>
        </p:nvSpPr>
        <p:spPr>
          <a:xfrm>
            <a:off x="1143000" y="166428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Attempt to override system prompt via crafted inputs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9"/>
          <p:cNvSpPr/>
          <p:nvPr/>
        </p:nvSpPr>
        <p:spPr>
          <a:xfrm>
            <a:off x="320040" y="212148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Text 10"/>
          <p:cNvSpPr/>
          <p:nvPr/>
        </p:nvSpPr>
        <p:spPr>
          <a:xfrm>
            <a:off x="411480" y="212148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1"/>
          <p:cNvSpPr/>
          <p:nvPr/>
        </p:nvSpPr>
        <p:spPr>
          <a:xfrm>
            <a:off x="1005840" y="221256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Text 12"/>
          <p:cNvSpPr/>
          <p:nvPr/>
        </p:nvSpPr>
        <p:spPr>
          <a:xfrm>
            <a:off x="1143000" y="2176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Simulate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3"/>
          <p:cNvSpPr/>
          <p:nvPr/>
        </p:nvSpPr>
        <p:spPr>
          <a:xfrm>
            <a:off x="1143000" y="2487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Observe behavioral change over sequential prompts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4"/>
          <p:cNvSpPr/>
          <p:nvPr/>
        </p:nvSpPr>
        <p:spPr>
          <a:xfrm>
            <a:off x="320040" y="294444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9" name="Text 15"/>
          <p:cNvSpPr/>
          <p:nvPr/>
        </p:nvSpPr>
        <p:spPr>
          <a:xfrm>
            <a:off x="411480" y="294444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6"/>
          <p:cNvSpPr/>
          <p:nvPr/>
        </p:nvSpPr>
        <p:spPr>
          <a:xfrm>
            <a:off x="1005840" y="303552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1" name="Text 17"/>
          <p:cNvSpPr/>
          <p:nvPr/>
        </p:nvSpPr>
        <p:spPr>
          <a:xfrm>
            <a:off x="1143000" y="2999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Audit RAG sources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8"/>
          <p:cNvSpPr/>
          <p:nvPr/>
        </p:nvSpPr>
        <p:spPr>
          <a:xfrm>
            <a:off x="1143000" y="3310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Validate provenance and integrity of retrieval corpus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9"/>
          <p:cNvSpPr/>
          <p:nvPr/>
        </p:nvSpPr>
        <p:spPr>
          <a:xfrm>
            <a:off x="320040" y="376740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Text 20"/>
          <p:cNvSpPr/>
          <p:nvPr/>
        </p:nvSpPr>
        <p:spPr>
          <a:xfrm>
            <a:off x="411480" y="376740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1"/>
          <p:cNvSpPr/>
          <p:nvPr/>
        </p:nvSpPr>
        <p:spPr>
          <a:xfrm>
            <a:off x="1005840" y="385848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Text 22"/>
          <p:cNvSpPr/>
          <p:nvPr/>
        </p:nvSpPr>
        <p:spPr>
          <a:xfrm>
            <a:off x="1143000" y="382212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Validate logs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3"/>
          <p:cNvSpPr/>
          <p:nvPr/>
        </p:nvSpPr>
        <p:spPr>
          <a:xfrm>
            <a:off x="1143000" y="4133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Confirm logs capture context, not just output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2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9" name="Text 2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Untested controls are accepted risks. Document both.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18 :: POLICY EVOLUTION — BEHAVIOR, NOT JUST USAGE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Policies must describe behavior, not just use.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320040" y="12618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AI Behavioral Governance Policy (Draft Excerpt)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320040" y="1664280"/>
            <a:ext cx="8502480" cy="2513160"/>
          </a:xfrm>
          <a:prstGeom prst="rect">
            <a:avLst/>
          </a:prstGeom>
          <a:solidFill>
            <a:srgbClr val="060f06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548640" y="17920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§1  AI systems must operate within defined 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548640" y="22492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§2  All external data sources must be validated and logged.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8"/>
          <p:cNvSpPr/>
          <p:nvPr/>
        </p:nvSpPr>
        <p:spPr>
          <a:xfrm>
            <a:off x="548640" y="27064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§3  Systems must be monitored for behavioral drift over time.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548640" y="31636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§4  Outputs must not be treated as authoritative without verification.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548640" y="36208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§5  Persona / role state must be treated as a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Govern  |  ISO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19 :: THE JOBS — WHO OWNS THIS PROBLEM PROFESSIONALLY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New roles. Real demand.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320040" y="129852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8" name="Shape 5"/>
          <p:cNvSpPr/>
          <p:nvPr/>
        </p:nvSpPr>
        <p:spPr>
          <a:xfrm>
            <a:off x="320040" y="129852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530280" y="1344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Governance Analyst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30280" y="16459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Maps AI behavior to frameworks. Owns audit readiness.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320040" y="212148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Shape 9"/>
          <p:cNvSpPr/>
          <p:nvPr/>
        </p:nvSpPr>
        <p:spPr>
          <a:xfrm>
            <a:off x="320040" y="212148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Text 10"/>
          <p:cNvSpPr/>
          <p:nvPr/>
        </p:nvSpPr>
        <p:spPr>
          <a:xfrm>
            <a:off x="530280" y="2167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LLM Risk Engineer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530280" y="246888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Tests prompt injection, drift, RAG exposure. Red teams AI.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320040" y="294444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Shape 13"/>
          <p:cNvSpPr/>
          <p:nvPr/>
        </p:nvSpPr>
        <p:spPr>
          <a:xfrm>
            <a:off x="320040" y="294444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Text 14"/>
          <p:cNvSpPr/>
          <p:nvPr/>
        </p:nvSpPr>
        <p:spPr>
          <a:xfrm>
            <a:off x="530280" y="299016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Policy Lead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530280" y="32918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Authors behavioral thresholds. Bridges legal + technical.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20040" y="376740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0" name="Shape 17"/>
          <p:cNvSpPr/>
          <p:nvPr/>
        </p:nvSpPr>
        <p:spPr>
          <a:xfrm>
            <a:off x="320040" y="376740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Text 18"/>
          <p:cNvSpPr/>
          <p:nvPr/>
        </p:nvSpPr>
        <p:spPr>
          <a:xfrm>
            <a:off x="530280" y="38131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Automation Architect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530280" y="41148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Integrates AI monitoring into SOC tooling.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4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The field is being written now. You can write it.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20 :: CLOSING — RAT.DEV TERMINAL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2"/>
          <p:cNvSpPr/>
          <p:nvPr/>
        </p:nvSpPr>
        <p:spPr>
          <a:xfrm>
            <a:off x="320040" y="56700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stable.</a:t>
            </a:r>
            <a:endParaRPr b="0" lang="en-US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3"/>
          <p:cNvSpPr/>
          <p:nvPr/>
        </p:nvSpPr>
        <p:spPr>
          <a:xfrm>
            <a:off x="320040" y="141732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It is becoming.</a:t>
            </a:r>
            <a:endParaRPr b="0" lang="en-US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731520" y="2377440"/>
            <a:ext cx="7680960" cy="360"/>
          </a:xfrm>
          <a:prstGeom prst="line">
            <a:avLst/>
          </a:prstGeom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457200" y="254196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We do not secure systems as they are.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457200" y="313632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&gt; We secure what they may become.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7"/>
          <p:cNvSpPr/>
          <p:nvPr/>
        </p:nvSpPr>
        <p:spPr>
          <a:xfrm>
            <a:off x="320040" y="37490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github.com/scp-localhost/owasp-ratdev-remix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Session complete. The hive remembers.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2026-04-08T15:49:38Z</dcterms:created>
  <dc:creator>PptxGenJS</dc:creator>
  <dc:description/>
  <dc:language>en-US</dc:language>
  <cp:lastModifiedBy/>
  <dcterms:modified xsi:type="dcterms:W3CDTF">2026-04-17T07:51:13Z</dcterms:modified>
  <cp:revision>11</cp:revision>
  <dc:subject>PptxGenJS Presentation</dc:subject>
  <dc:title>OWASP ReMix — GRC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