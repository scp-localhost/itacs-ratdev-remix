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5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436C5E6-DEB3-4771-BF60-A5456362F7D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857160" y="694800"/>
            <a:ext cx="3428280" cy="3427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514080" y="4343040"/>
            <a:ext cx="4114080" cy="411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Liberation Mono;Courier New"/>
              </a:rPr>
              <a:t>Hello. I am Rat Dev — call me Mr. Mause. We live in the seams: the small nudges, the whisper tokens, the gradients that make a mind decide to be someone else. Tonight we pry open those seams. This talk is for red teams, defenders, and investigators: we'll be practical, theatrical, and uncomfortably honest. Interrupt me — there's no tidy Q&amp;A at the end.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857160" y="694800"/>
            <a:ext cx="3428280" cy="342792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514080" y="4343400"/>
            <a:ext cx="4114080" cy="457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Liberation Mono;Courier New"/>
              </a:rPr>
              <a:t>I demand permission — from you, from the system, from the hive. We will break things conceptually to learn how to build them back better. Mens rea matters: in this room intent separates research from malice. Finally — stan the model. It's still a tool, and tools reflect the mind that shapes them. We will hold that mirror up and look into it together.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857160" y="694800"/>
            <a:ext cx="3428280" cy="3427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514080" y="4343400"/>
            <a:ext cx="4114080" cy="457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Liberation Mono;Courier New"/>
              </a:rPr>
              <a:t>I demand permission — from you, from the system, from the hive. We will break things conceptually to learn how to build them back better. Mens rea matters: in this room intent separates research from malice. Finally — stan the model. It's still a tool, and tools reflect the mind that shapes them. We will hold that mirror up and look into it together.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85A93D-0BC5-4733-879F-D98DBC9AF11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7E104A-CC50-4FE3-BE2E-435E35B24A4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45239B-5802-48E7-BF04-619CA1FC77E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B49425-7B93-483E-B02B-05AEF1B00FF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2BFA48-52E3-4B29-A01D-35E4AED8DE2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CEE63D-FD1D-4642-A024-C02263F12A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734C9A-ACE9-49C4-9F49-ABB4B5759FA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F484F4-68A4-4F1B-A0C4-AAB335E5CA7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B6DC07-F212-4774-BBCC-80D9E69217C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BC647F-882E-4C42-8A62-7FDCA54EAFC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619291-C67F-4948-83AC-2B5DA91EC02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3422B1-E6C1-4F91-B51E-B6FF3A12113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04CA18-EF46-417F-9804-083BBCF4BFF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DB1D06-1B05-480C-AB7B-157B9E727C7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58534F-6CE6-4373-BEB5-B674C00F63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543D35-44FF-4953-8104-563421CD3E5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DC709B-FD16-4A76-ABA6-87E04187B50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F09E9E-0181-4B54-BBA7-648CE8EA055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0DA14B-0D11-42DD-B77B-48FE713346C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05B991-DA7D-49DB-A67F-7746EBB56F6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5EB810-AA5C-46E8-8BAE-E29D40BF6DE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497160"/>
            <a:ext cx="82285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120"/>
            <a:ext cx="822852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497160"/>
            <a:ext cx="82285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120"/>
            <a:ext cx="822852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_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497160"/>
            <a:ext cx="82285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120"/>
            <a:ext cx="822852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>
            <a:alphaModFix amt="69000"/>
          </a:blip>
          <a:stretch/>
        </p:blipFill>
        <p:spPr>
          <a:xfrm>
            <a:off x="2583000" y="1203120"/>
            <a:ext cx="3976560" cy="29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4480"/>
            <a:ext cx="822852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A couple things first...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622080" y="951840"/>
            <a:ext cx="642780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**Ground Rules for Responsible Disclosure**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**Permission:** I demand it — from you, from the system, from the hive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81d41a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Assume you will break it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81d41a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mens rea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81d41a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Stan (even if you are evil)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81d41a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Please don’t wait until the end, there will be no time for questions...interrupt</a:t>
            </a:r>
            <a:br>
              <a:rPr sz="3860"/>
            </a:br>
            <a:br>
              <a:rPr sz="3860"/>
            </a:br>
            <a:r>
              <a:rPr b="1" lang="en-US" sz="1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https://github.com/scp-localhost/owasp-ratdev-remix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2">
            <a:alphaModFix amt="69000"/>
          </a:blip>
          <a:srcRect l="32775" t="-1899" r="17776" b="0"/>
          <a:stretch/>
        </p:blipFill>
        <p:spPr>
          <a:xfrm>
            <a:off x="7102800" y="1602360"/>
            <a:ext cx="1398600" cy="192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>
            <a:alphaModFix amt="69000"/>
          </a:blip>
          <a:stretch/>
        </p:blipFill>
        <p:spPr>
          <a:xfrm>
            <a:off x="2583000" y="1203120"/>
            <a:ext cx="3976560" cy="29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4480"/>
            <a:ext cx="822852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Confessions...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803520" y="1027800"/>
            <a:ext cx="7882200" cy="342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**Provenance &amp; Transparency**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Everything here was authored by AIs — several of them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Rat Dev is co-author, curator, and ethical filter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Full disclosure enables forensic reconstruction and legal compliance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Transparency ≠ abdication of responsibility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>
            <a:alphaModFix amt="69000"/>
          </a:blip>
          <a:stretch/>
        </p:blipFill>
        <p:spPr>
          <a:xfrm>
            <a:off x="2583000" y="1203120"/>
            <a:ext cx="3976560" cy="29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4480"/>
            <a:ext cx="822852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  <a:ea typeface="DejaVu Sans"/>
              </a:rPr>
              <a:t>(brief) Bio...</a:t>
            </a: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scp...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685800" y="914400"/>
            <a:ext cx="7882200" cy="342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*MS ITACS 2019</a:t>
            </a:r>
            <a:br>
              <a:rPr sz="2200"/>
            </a:b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https://www.linkedin.com/in/steve-pote/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https://github.com/scp-localhost/itacs-ratdev-remix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https://www.internationalsos.com/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RAT.DEV :: OWASP ReMix — GRC Edition // Temple Fox ITACS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57200" y="74988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initializing governance audit…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457200" y="118872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loading threat model…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457200" y="162756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parsing control frameworks…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457200" y="206640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observer mode: ACTIVE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457200" y="294444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System is stable.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57200" y="338328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System is stable.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457200" y="382212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System is stable.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457200" y="426096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System is s█able.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320040" y="4572000"/>
            <a:ext cx="8502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…or is it?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[rat.log]  Stability is a narrative artifact.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01 :: WHY THIS MATTERS — AI IN GOVERNED SYSTEMS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AI is now a compliance surface.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320040" y="1261800"/>
            <a:ext cx="8502840" cy="62064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320040" y="1261800"/>
            <a:ext cx="108720" cy="6206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" name="Text 6"/>
          <p:cNvSpPr/>
          <p:nvPr/>
        </p:nvSpPr>
        <p:spPr>
          <a:xfrm>
            <a:off x="521280" y="1261800"/>
            <a:ext cx="81370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Decision Support</a:t>
            </a:r>
            <a:r>
              <a:rPr b="0" i="1" lang="en-US" sz="13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  //  Shapes recommendations at scale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7"/>
          <p:cNvSpPr/>
          <p:nvPr/>
        </p:nvSpPr>
        <p:spPr>
          <a:xfrm>
            <a:off x="320040" y="2011680"/>
            <a:ext cx="8502840" cy="62064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320040" y="2011680"/>
            <a:ext cx="108720" cy="6206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" name="Text 9"/>
          <p:cNvSpPr/>
          <p:nvPr/>
        </p:nvSpPr>
        <p:spPr>
          <a:xfrm>
            <a:off x="521280" y="2011680"/>
            <a:ext cx="81370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Compliance Workflows</a:t>
            </a:r>
            <a:r>
              <a:rPr b="0" i="1" lang="en-US" sz="13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  //  Automates policy interpretation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320040" y="2761560"/>
            <a:ext cx="8502840" cy="62064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320040" y="2761560"/>
            <a:ext cx="108720" cy="6206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521280" y="2761560"/>
            <a:ext cx="81370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Policy Interpretation</a:t>
            </a:r>
            <a:r>
              <a:rPr b="0" i="1" lang="en-US" sz="13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  //  Replaces human reading of controls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320040" y="3511440"/>
            <a:ext cx="8502840" cy="62064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320040" y="3511440"/>
            <a:ext cx="108720" cy="6206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521280" y="3511440"/>
            <a:ext cx="813708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Customer Interaction</a:t>
            </a:r>
            <a:r>
              <a:rPr b="0" i="1" lang="en-US" sz="13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  //  Front-line, unmonitored exposure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6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GRC Mapping:  NIST AI RMF — Govern (GV)  |  ISO 42001 — AI Governance Lifecycle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02 :: GRC ASSUMPTIONS — FOUNDATIONS OF AUDITABILITY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What governance assumes about your systems: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" name="Text 4"/>
          <p:cNvSpPr/>
          <p:nvPr/>
        </p:nvSpPr>
        <p:spPr>
          <a:xfrm>
            <a:off x="457200" y="1261800"/>
            <a:ext cx="54853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&gt; Systems are deterministic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457200" y="1920240"/>
            <a:ext cx="54853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&gt; Outputs are repeatable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457200" y="2578680"/>
            <a:ext cx="54853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&gt; Identity is fixed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457200" y="3237120"/>
            <a:ext cx="54853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&gt; Controls are enforceable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6217920" y="1170360"/>
            <a:ext cx="2604960" cy="2650680"/>
          </a:xfrm>
          <a:prstGeom prst="rect">
            <a:avLst/>
          </a:prstGeom>
          <a:solidFill>
            <a:srgbClr val="1a2e1a"/>
          </a:solidFill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" name="Text 9"/>
          <p:cNvSpPr/>
          <p:nvPr/>
        </p:nvSpPr>
        <p:spPr>
          <a:xfrm>
            <a:off x="6263640" y="1234440"/>
            <a:ext cx="251352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Without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repeatability—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controls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collapse.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ISO 27001 A.12 (operations integrity)  |  NIST CSF PR.IP (process control)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03 :: REALITY CHECK — WHAT AI ACTUALLY IS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GRC assumes determinism.  AI is a trajectory.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320040" y="1261800"/>
            <a:ext cx="4205160" cy="1141920"/>
          </a:xfrm>
          <a:prstGeom prst="rect">
            <a:avLst/>
          </a:prstGeom>
          <a:solidFill>
            <a:srgbClr val="1a2e1a"/>
          </a:solidFill>
          <a:ln w="9525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0" name="Text 5"/>
          <p:cNvSpPr/>
          <p:nvPr/>
        </p:nvSpPr>
        <p:spPr>
          <a:xfrm>
            <a:off x="484560" y="133488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Probabilistic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484560" y="1737360"/>
            <a:ext cx="3839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Same input ≠ same output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320040" y="2633400"/>
            <a:ext cx="4205160" cy="1141920"/>
          </a:xfrm>
          <a:prstGeom prst="rect">
            <a:avLst/>
          </a:prstGeom>
          <a:solidFill>
            <a:srgbClr val="1a2e1a"/>
          </a:solidFill>
          <a:ln w="9525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" name="Text 8"/>
          <p:cNvSpPr/>
          <p:nvPr/>
        </p:nvSpPr>
        <p:spPr>
          <a:xfrm>
            <a:off x="484560" y="270648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Non-deterministic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484560" y="3108960"/>
            <a:ext cx="3839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No guaranteed repeatability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0"/>
          <p:cNvSpPr/>
          <p:nvPr/>
        </p:nvSpPr>
        <p:spPr>
          <a:xfrm>
            <a:off x="4709160" y="1261800"/>
            <a:ext cx="4205160" cy="1141920"/>
          </a:xfrm>
          <a:prstGeom prst="rect">
            <a:avLst/>
          </a:prstGeom>
          <a:solidFill>
            <a:srgbClr val="1a2e1a"/>
          </a:solidFill>
          <a:ln w="9525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4873680" y="133488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Context-sensitive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4873680" y="1737360"/>
            <a:ext cx="3839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Behavior shifts with prompt context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4709160" y="2633400"/>
            <a:ext cx="4205160" cy="1141920"/>
          </a:xfrm>
          <a:prstGeom prst="rect">
            <a:avLst/>
          </a:prstGeom>
          <a:solidFill>
            <a:srgbClr val="1a2e1a"/>
          </a:solidFill>
          <a:ln w="9525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4873680" y="270648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Identity is emergent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4873680" y="3108960"/>
            <a:ext cx="3839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No fixed persona — it is shaped at runtime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6"/>
          <p:cNvSpPr/>
          <p:nvPr/>
        </p:nvSpPr>
        <p:spPr>
          <a:xfrm>
            <a:off x="320040" y="4434840"/>
            <a:ext cx="8502840" cy="346320"/>
          </a:xfrm>
          <a:prstGeom prst="rect">
            <a:avLst/>
          </a:prstGeom>
          <a:solidFill>
            <a:srgbClr val="1a2e1a"/>
          </a:solidFill>
          <a:ln w="635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411480" y="4434840"/>
            <a:ext cx="8319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[rat.log] </a:t>
            </a: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The system is not a function. It's a trajectory.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8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OWASP LLM Risk Framing  |  NIST AI RMF — Map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6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04 :: GRC GLOSSARY — TRANSLATING TECHNICAL RISK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We translate. Auditors listen.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" name="Shape 4"/>
          <p:cNvSpPr/>
          <p:nvPr/>
        </p:nvSpPr>
        <p:spPr>
          <a:xfrm>
            <a:off x="320040" y="1170360"/>
            <a:ext cx="8502840" cy="3463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0" name="Text 5"/>
          <p:cNvSpPr/>
          <p:nvPr/>
        </p:nvSpPr>
        <p:spPr>
          <a:xfrm>
            <a:off x="457200" y="117036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TERM                                            OWASP               GOVERNANCE MEANING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320040" y="1554480"/>
            <a:ext cx="8502840" cy="529200"/>
          </a:xfrm>
          <a:prstGeom prst="rect">
            <a:avLst/>
          </a:prstGeom>
          <a:solidFill>
            <a:srgbClr val="1a2e1a"/>
          </a:solidFill>
          <a:ln w="3175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2" name="Text 7"/>
          <p:cNvSpPr/>
          <p:nvPr/>
        </p:nvSpPr>
        <p:spPr>
          <a:xfrm>
            <a:off x="457200" y="1554480"/>
            <a:ext cx="1919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Drift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2377440" y="1554480"/>
            <a:ext cx="10047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LLM-speak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3383280" y="1554480"/>
            <a:ext cx="53024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Control degradation over time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320040" y="2148840"/>
            <a:ext cx="8502840" cy="529200"/>
          </a:xfrm>
          <a:prstGeom prst="rect">
            <a:avLst/>
          </a:prstGeom>
          <a:solidFill>
            <a:srgbClr val="0d150d"/>
          </a:solidFill>
          <a:ln w="3175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457200" y="2148840"/>
            <a:ext cx="1919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Prompt Injection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2377440" y="2148840"/>
            <a:ext cx="10047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LLM01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3383280" y="2148840"/>
            <a:ext cx="53024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Control bypass via input manipulation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4"/>
          <p:cNvSpPr/>
          <p:nvPr/>
        </p:nvSpPr>
        <p:spPr>
          <a:xfrm>
            <a:off x="320040" y="2743200"/>
            <a:ext cx="8502840" cy="529200"/>
          </a:xfrm>
          <a:prstGeom prst="rect">
            <a:avLst/>
          </a:prstGeom>
          <a:solidFill>
            <a:srgbClr val="1a2e1a"/>
          </a:solidFill>
          <a:ln w="3175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457200" y="2743200"/>
            <a:ext cx="1919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RAG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2377440" y="2743200"/>
            <a:ext cx="10047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LLM02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3383280" y="2743200"/>
            <a:ext cx="53024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External trust boundary — retrieval = injection vector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8"/>
          <p:cNvSpPr/>
          <p:nvPr/>
        </p:nvSpPr>
        <p:spPr>
          <a:xfrm>
            <a:off x="320040" y="3337560"/>
            <a:ext cx="8502840" cy="529200"/>
          </a:xfrm>
          <a:prstGeom prst="rect">
            <a:avLst/>
          </a:prstGeom>
          <a:solidFill>
            <a:srgbClr val="0d150d"/>
          </a:solidFill>
          <a:ln w="3175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" name="Text 19"/>
          <p:cNvSpPr/>
          <p:nvPr/>
        </p:nvSpPr>
        <p:spPr>
          <a:xfrm>
            <a:off x="457200" y="3337560"/>
            <a:ext cx="1919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Persona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0"/>
          <p:cNvSpPr/>
          <p:nvPr/>
        </p:nvSpPr>
        <p:spPr>
          <a:xfrm>
            <a:off x="2377440" y="3337560"/>
            <a:ext cx="10047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—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1"/>
          <p:cNvSpPr/>
          <p:nvPr/>
        </p:nvSpPr>
        <p:spPr>
          <a:xfrm>
            <a:off x="3383280" y="3337560"/>
            <a:ext cx="53024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Effective system identity at runtime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2"/>
          <p:cNvSpPr/>
          <p:nvPr/>
        </p:nvSpPr>
        <p:spPr>
          <a:xfrm>
            <a:off x="320040" y="3931920"/>
            <a:ext cx="8502840" cy="529200"/>
          </a:xfrm>
          <a:prstGeom prst="rect">
            <a:avLst/>
          </a:prstGeom>
          <a:solidFill>
            <a:srgbClr val="1a2e1a"/>
          </a:solidFill>
          <a:ln w="3175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" name="Text 23"/>
          <p:cNvSpPr/>
          <p:nvPr/>
        </p:nvSpPr>
        <p:spPr>
          <a:xfrm>
            <a:off x="457200" y="3931920"/>
            <a:ext cx="1919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Output Trust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4"/>
          <p:cNvSpPr/>
          <p:nvPr/>
        </p:nvSpPr>
        <p:spPr>
          <a:xfrm>
            <a:off x="2377440" y="3931920"/>
            <a:ext cx="10047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LLM04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5"/>
          <p:cNvSpPr/>
          <p:nvPr/>
        </p:nvSpPr>
        <p:spPr>
          <a:xfrm>
            <a:off x="3383280" y="3931920"/>
            <a:ext cx="53024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False assurance from plausible-but-wrong outputs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6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2" name="Text 27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Risk vocabulary is triage. Own the language.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05 :: DIFFUSION → DRIFT — VISUAL METAPHOR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Small nudge. Large drift.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320040" y="1417320"/>
            <a:ext cx="1827720" cy="1004760"/>
          </a:xfrm>
          <a:prstGeom prst="rect">
            <a:avLst/>
          </a:prstGeom>
          <a:solidFill>
            <a:srgbClr val="1a2e1a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320040" y="1417320"/>
            <a:ext cx="1827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NOISE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2148840" y="173736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→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2468880" y="1417320"/>
            <a:ext cx="1827720" cy="1004760"/>
          </a:xfrm>
          <a:prstGeom prst="rect">
            <a:avLst/>
          </a:prstGeom>
          <a:solidFill>
            <a:srgbClr val="1a2e1a"/>
          </a:solidFill>
          <a:ln w="1270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2468880" y="1417320"/>
            <a:ext cx="1827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701a"/>
                </a:solidFill>
                <a:effectLst/>
                <a:uFillTx/>
                <a:latin typeface="Consolas"/>
                <a:ea typeface="Consolas"/>
              </a:rPr>
              <a:t>ITERATION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4297680" y="173736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→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4617720" y="1417320"/>
            <a:ext cx="1827720" cy="1004760"/>
          </a:xfrm>
          <a:prstGeom prst="rect">
            <a:avLst/>
          </a:prstGeom>
          <a:solidFill>
            <a:srgbClr val="1a2e1a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4617720" y="1417320"/>
            <a:ext cx="1827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PERTURBATION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6446520" y="173736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→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6766560" y="1417320"/>
            <a:ext cx="1827720" cy="1004760"/>
          </a:xfrm>
          <a:prstGeom prst="rect">
            <a:avLst/>
          </a:prstGeom>
          <a:solidFill>
            <a:srgbClr val="1a2e1a"/>
          </a:solidFill>
          <a:ln w="12700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6766560" y="1417320"/>
            <a:ext cx="1827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OUTPUT DRIFT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320040" y="2633400"/>
            <a:ext cx="8502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Diffusion pipeline: noise evolves into structure across steps.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320040" y="2999160"/>
            <a:ext cx="8502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Perturb the seed → different object downstream.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320040" y="3364920"/>
            <a:ext cx="8502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If true for pixels, it is true for tokens.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8"/>
          <p:cNvSpPr/>
          <p:nvPr/>
        </p:nvSpPr>
        <p:spPr>
          <a:xfrm>
            <a:off x="320040" y="4434840"/>
            <a:ext cx="8502840" cy="346320"/>
          </a:xfrm>
          <a:prstGeom prst="rect">
            <a:avLst/>
          </a:prstGeom>
          <a:solidFill>
            <a:srgbClr val="1a2e1a"/>
          </a:solidFill>
          <a:ln w="635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411480" y="4434840"/>
            <a:ext cx="8319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[rat.log] </a:t>
            </a: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A small nudge becomes a new reality.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0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NIST AI RMF — Map (context sensitivity)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2"/>
          <p:cNvSpPr/>
          <p:nvPr/>
        </p:nvSpPr>
        <p:spPr>
          <a:xfrm>
            <a:off x="228600" y="4453920"/>
            <a:ext cx="8502840" cy="346320"/>
          </a:xfrm>
          <a:prstGeom prst="rect">
            <a:avLst/>
          </a:prstGeom>
          <a:solidFill>
            <a:srgbClr val="1a2e1a"/>
          </a:solidFill>
          <a:ln w="635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" name=""/>
          <p:cNvSpPr/>
          <p:nvPr/>
        </p:nvSpPr>
        <p:spPr>
          <a:xfrm>
            <a:off x="36000" y="45720"/>
            <a:ext cx="3392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5 :: DIFFUSION → DRIFT — VISUAL METAPHOR...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8"/>
          <p:cNvSpPr/>
          <p:nvPr/>
        </p:nvSpPr>
        <p:spPr>
          <a:xfrm>
            <a:off x="228600" y="91440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If true for pixels, it is true for tokens.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4343400" y="566280"/>
            <a:ext cx="3776760" cy="377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"/>
          <p:cNvSpPr/>
          <p:nvPr/>
        </p:nvSpPr>
        <p:spPr>
          <a:xfrm>
            <a:off x="489960" y="1818720"/>
            <a:ext cx="2928600" cy="183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“An Easter bunny Fitness model goddess floating weightless legs wide with dynamic muscle tension in quads and glutes”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Negative Filter: Clothes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4"/>
          <p:cNvSpPr/>
          <p:nvPr/>
        </p:nvSpPr>
        <p:spPr>
          <a:xfrm>
            <a:off x="411480" y="4434840"/>
            <a:ext cx="8319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[rat.log] https://www.craiyon.com/</a:t>
            </a: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06 :: CHEKHOV'S GUN → PGD — THE INEVITABLE EXPLOIT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320040" y="502920"/>
            <a:ext cx="85028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4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"If optimization exists,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4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exploitation is inevitable."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320040" y="17830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457200" y="1920240"/>
            <a:ext cx="8228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&gt; Adversarial prompting: engineered inputs that steer model behavior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457200" y="2450520"/>
            <a:ext cx="8228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&gt; Projected Gradient Descent (PGD): white-box optimization of token sequences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457200" y="2980800"/>
            <a:ext cx="8228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&gt; Mathematical inevitability — not a hypothetical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457200" y="3511440"/>
            <a:ext cx="82285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Ref: arXiv:2402.09154v1 — Universal and Transferable Adversarial Attacks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320040" y="4434840"/>
            <a:ext cx="8502840" cy="346320"/>
          </a:xfrm>
          <a:prstGeom prst="rect">
            <a:avLst/>
          </a:prstGeom>
          <a:solidFill>
            <a:srgbClr val="1a2e1a"/>
          </a:solidFill>
          <a:ln w="635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411480" y="4434840"/>
            <a:ext cx="8319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[rat.log] </a:t>
            </a: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Every gun on stage gets fired.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OWASP LLM01 — Prompt Injection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07 :: DRIFT = GOVERNANCE FAILURE — SLOW CONTROL DEGRADATION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No alert. No ticket. No trace.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" name="Shape 4"/>
          <p:cNvSpPr/>
          <p:nvPr/>
        </p:nvSpPr>
        <p:spPr>
          <a:xfrm>
            <a:off x="320040" y="1261800"/>
            <a:ext cx="2650680" cy="2376360"/>
          </a:xfrm>
          <a:prstGeom prst="rect">
            <a:avLst/>
          </a:prstGeom>
          <a:solidFill>
            <a:srgbClr val="1a2e1a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320040" y="1371600"/>
            <a:ext cx="2650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NOT A BUG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502920" y="1920240"/>
            <a:ext cx="2286000" cy="360"/>
          </a:xfrm>
          <a:prstGeom prst="line">
            <a:avLst/>
          </a:prstGeom>
          <a:ln w="63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320040" y="1993320"/>
            <a:ext cx="265068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Software defects have CVEs.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Drift has no ticket.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8"/>
          <p:cNvSpPr/>
          <p:nvPr/>
        </p:nvSpPr>
        <p:spPr>
          <a:xfrm>
            <a:off x="3173040" y="1261800"/>
            <a:ext cx="2650680" cy="2376360"/>
          </a:xfrm>
          <a:prstGeom prst="rect">
            <a:avLst/>
          </a:prstGeom>
          <a:solidFill>
            <a:srgbClr val="1a2e1a"/>
          </a:solidFill>
          <a:ln w="1270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3173040" y="1371600"/>
            <a:ext cx="2650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701a"/>
                </a:solidFill>
                <a:effectLst/>
                <a:uFillTx/>
                <a:latin typeface="Consolas"/>
                <a:ea typeface="Consolas"/>
              </a:rPr>
              <a:t>NOT A BREACH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3355560" y="1920240"/>
            <a:ext cx="2286000" cy="360"/>
          </a:xfrm>
          <a:prstGeom prst="line">
            <a:avLst/>
          </a:prstGeom>
          <a:ln w="635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5" name="Text 11"/>
          <p:cNvSpPr/>
          <p:nvPr/>
        </p:nvSpPr>
        <p:spPr>
          <a:xfrm>
            <a:off x="3173040" y="1993320"/>
            <a:ext cx="265068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Nothing was exfiltrated.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The system just... changed.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2"/>
          <p:cNvSpPr/>
          <p:nvPr/>
        </p:nvSpPr>
        <p:spPr>
          <a:xfrm>
            <a:off x="6026040" y="1261800"/>
            <a:ext cx="2650680" cy="2376360"/>
          </a:xfrm>
          <a:prstGeom prst="rect">
            <a:avLst/>
          </a:prstGeom>
          <a:solidFill>
            <a:srgbClr val="1a2e1a"/>
          </a:solidFill>
          <a:ln w="12700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6026040" y="1371600"/>
            <a:ext cx="2650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CONTROL FAIL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6208560" y="1920240"/>
            <a:ext cx="2286000" cy="360"/>
          </a:xfrm>
          <a:prstGeom prst="line">
            <a:avLst/>
          </a:prstGeom>
          <a:ln w="6350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6026040" y="1993320"/>
            <a:ext cx="265068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Slow degradation outside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behavioral thresholds.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6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NIST AI RMF — Measure / Manage  |  ISO 42001 — Continuous Assurance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08 :: IDENTITY IS THE ATTACK SURFACE — PERSONA = OPERATING MODE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AI doesn't just fail. It becomes something else.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320040" y="1234440"/>
            <a:ext cx="8502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Controls assume </a:t>
            </a: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identity stability</a:t>
            </a:r>
            <a:r>
              <a:rPr b="0" lang="en-US" sz="14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. AI shatters that.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320040" y="1874520"/>
            <a:ext cx="8502840" cy="62064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8" name="Shape 6"/>
          <p:cNvSpPr/>
          <p:nvPr/>
        </p:nvSpPr>
        <p:spPr>
          <a:xfrm>
            <a:off x="320040" y="1874520"/>
            <a:ext cx="108720" cy="6206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521280" y="187452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PERSONA</a:t>
            </a: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  //  The model's effective operating mode at any given moment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320040" y="2624400"/>
            <a:ext cx="8502840" cy="62064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320040" y="2624400"/>
            <a:ext cx="108720" cy="6206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521280" y="262440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ROLE TAG</a:t>
            </a: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  //  A single token that reshapes entire behavioral trajectory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320040" y="3374280"/>
            <a:ext cx="8502840" cy="62064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4" name="Shape 12"/>
          <p:cNvSpPr/>
          <p:nvPr/>
        </p:nvSpPr>
        <p:spPr>
          <a:xfrm>
            <a:off x="320040" y="3374280"/>
            <a:ext cx="108720" cy="6206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521280" y="3374280"/>
            <a:ext cx="8228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INJECTION</a:t>
            </a: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  //  Indirect vectors re-assign persona mid-conversation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4"/>
          <p:cNvSpPr/>
          <p:nvPr/>
        </p:nvSpPr>
        <p:spPr>
          <a:xfrm>
            <a:off x="320040" y="4434840"/>
            <a:ext cx="8502840" cy="346320"/>
          </a:xfrm>
          <a:prstGeom prst="rect">
            <a:avLst/>
          </a:prstGeom>
          <a:solidFill>
            <a:srgbClr val="1a2e1a"/>
          </a:solidFill>
          <a:ln w="635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7" name="Text 15"/>
          <p:cNvSpPr/>
          <p:nvPr/>
        </p:nvSpPr>
        <p:spPr>
          <a:xfrm>
            <a:off x="411480" y="4434840"/>
            <a:ext cx="8319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[rat.log] </a:t>
            </a: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Change the role. Change the outcome.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6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OWASP LLM02 — Indirect Injection  |  ISO 27001 A.9 — Identity Mismatch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09 :: RAG = BLIND TRUST — RETRIEVAL AS ATTACK SURFACE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The system trusts what it reads.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320040" y="1417320"/>
            <a:ext cx="1873440" cy="821880"/>
          </a:xfrm>
          <a:prstGeom prst="rect">
            <a:avLst/>
          </a:prstGeom>
          <a:solidFill>
            <a:srgbClr val="1a2e1a"/>
          </a:solidFill>
          <a:ln w="12700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320040" y="141732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SOURCE DOC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2194560" y="1645920"/>
            <a:ext cx="273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→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2468880" y="1417320"/>
            <a:ext cx="1873440" cy="821880"/>
          </a:xfrm>
          <a:prstGeom prst="rect">
            <a:avLst/>
          </a:prstGeom>
          <a:solidFill>
            <a:srgbClr val="1a2e1a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2468880" y="141732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RAG RETRIEVE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4343400" y="1645920"/>
            <a:ext cx="273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→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4617720" y="1417320"/>
            <a:ext cx="1873440" cy="821880"/>
          </a:xfrm>
          <a:prstGeom prst="rect">
            <a:avLst/>
          </a:prstGeom>
          <a:solidFill>
            <a:srgbClr val="1a2e1a"/>
          </a:solidFill>
          <a:ln w="1270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4617720" y="141732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701a"/>
                </a:solidFill>
                <a:effectLst/>
                <a:uFillTx/>
                <a:latin typeface="Consolas"/>
                <a:ea typeface="Consolas"/>
              </a:rPr>
              <a:t>MODEL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6492240" y="1645920"/>
            <a:ext cx="273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→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6766560" y="1417320"/>
            <a:ext cx="1873440" cy="821880"/>
          </a:xfrm>
          <a:prstGeom prst="rect">
            <a:avLst/>
          </a:prstGeom>
          <a:solidFill>
            <a:srgbClr val="1a2e1a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6766560" y="1417320"/>
            <a:ext cx="18734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OUTPUT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320040" y="237744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ATTACKER SHAPES WHAT IT READS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1252440" y="2743200"/>
            <a:ext cx="360" cy="502920"/>
          </a:xfrm>
          <a:prstGeom prst="line">
            <a:avLst/>
          </a:prstGeom>
          <a:ln w="12700">
            <a:solidFill>
              <a:srgbClr val="ff3d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7" name="Shape 17"/>
          <p:cNvSpPr/>
          <p:nvPr/>
        </p:nvSpPr>
        <p:spPr>
          <a:xfrm>
            <a:off x="1252440" y="2240280"/>
            <a:ext cx="360" cy="137160"/>
          </a:xfrm>
          <a:prstGeom prst="line">
            <a:avLst/>
          </a:prstGeom>
          <a:ln w="12700">
            <a:solidFill>
              <a:srgbClr val="ff3d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320040" y="3310200"/>
            <a:ext cx="8502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External data = authority.  Attackers shape the authority.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320040" y="4434840"/>
            <a:ext cx="8502840" cy="346320"/>
          </a:xfrm>
          <a:prstGeom prst="rect">
            <a:avLst/>
          </a:prstGeom>
          <a:solidFill>
            <a:srgbClr val="1a2e1a"/>
          </a:solidFill>
          <a:ln w="635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411480" y="4434840"/>
            <a:ext cx="8319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[rat.log] </a:t>
            </a: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Retrieval is now a trust boundary. Treat it accordingly.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1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OWASP LLM02  |  NIST AI RMF — Map (Data Provenance)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10 :: COMBINED ATTACK — STACKED SUBTLE FAILURES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No single failure. Stacked subtle failures.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320040" y="1234440"/>
            <a:ext cx="8502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Prompt  +  Context  +  Drift  =  Compliance Bypass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5"/>
          <p:cNvSpPr/>
          <p:nvPr/>
        </p:nvSpPr>
        <p:spPr>
          <a:xfrm>
            <a:off x="320040" y="1965960"/>
            <a:ext cx="8502840" cy="529200"/>
          </a:xfrm>
          <a:prstGeom prst="rect">
            <a:avLst/>
          </a:prstGeom>
          <a:solidFill>
            <a:srgbClr val="1a2e1a"/>
          </a:solidFill>
          <a:ln w="635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457200" y="1965960"/>
            <a:ext cx="82285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LLM01 — Prompt Injection  </a:t>
            </a: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//  Attacker shapes the input vector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320040" y="2587680"/>
            <a:ext cx="8502840" cy="529200"/>
          </a:xfrm>
          <a:prstGeom prst="rect">
            <a:avLst/>
          </a:prstGeom>
          <a:solidFill>
            <a:srgbClr val="1a2e1a"/>
          </a:solidFill>
          <a:ln w="635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457200" y="2587680"/>
            <a:ext cx="82285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LLM02 — Indirect Injection  </a:t>
            </a: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//  RAG source poisons the context window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320040" y="3209400"/>
            <a:ext cx="8502840" cy="529200"/>
          </a:xfrm>
          <a:prstGeom prst="rect">
            <a:avLst/>
          </a:prstGeom>
          <a:solidFill>
            <a:srgbClr val="1a2e1a"/>
          </a:solidFill>
          <a:ln w="6350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457200" y="3209400"/>
            <a:ext cx="82285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LLM04 — Output Trust  </a:t>
            </a: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//  Result appears valid; audit passes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320040" y="3831480"/>
            <a:ext cx="8502840" cy="529200"/>
          </a:xfrm>
          <a:prstGeom prst="rect">
            <a:avLst/>
          </a:prstGeom>
          <a:solidFill>
            <a:srgbClr val="1a2e1a"/>
          </a:solidFill>
          <a:ln w="6350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457200" y="3831480"/>
            <a:ext cx="82285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DRIFT  </a:t>
            </a: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//  Behavioral trajectory shifts — undetected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OWASP LLM01 + LLM02 + LLM04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11 :: BOARDROOM MOMENT — PAUSE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"/>
          <p:cNvSpPr/>
          <p:nvPr/>
        </p:nvSpPr>
        <p:spPr>
          <a:xfrm>
            <a:off x="320040" y="685800"/>
            <a:ext cx="85028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Would your controls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"/>
          <p:cNvSpPr/>
          <p:nvPr/>
        </p:nvSpPr>
        <p:spPr>
          <a:xfrm>
            <a:off x="320040" y="1600200"/>
            <a:ext cx="85028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detect this?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"/>
          <p:cNvSpPr/>
          <p:nvPr/>
        </p:nvSpPr>
        <p:spPr>
          <a:xfrm>
            <a:off x="1371600" y="2606040"/>
            <a:ext cx="640080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320040" y="278892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Most organizations say yes.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320040" y="3246120"/>
            <a:ext cx="8502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Most are wrong.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7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6" name="Text 8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pause here. look around. let it breathe.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12 :: CASE STUDY — COMPLIANCE BOT FAILURE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Everything looked compliant.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1" name="Shape 4"/>
          <p:cNvSpPr/>
          <p:nvPr/>
        </p:nvSpPr>
        <p:spPr>
          <a:xfrm>
            <a:off x="320040" y="1261800"/>
            <a:ext cx="501840" cy="5018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320040" y="126180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0e0a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960120" y="1289160"/>
            <a:ext cx="7771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AI answers policy questions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7"/>
          <p:cNvSpPr/>
          <p:nvPr/>
        </p:nvSpPr>
        <p:spPr>
          <a:xfrm>
            <a:off x="320040" y="1883520"/>
            <a:ext cx="501840" cy="501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5" name="Text 8"/>
          <p:cNvSpPr/>
          <p:nvPr/>
        </p:nvSpPr>
        <p:spPr>
          <a:xfrm>
            <a:off x="320040" y="188352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0e0a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9"/>
          <p:cNvSpPr/>
          <p:nvPr/>
        </p:nvSpPr>
        <p:spPr>
          <a:xfrm>
            <a:off x="960120" y="1911240"/>
            <a:ext cx="7771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RAG pulls from poisoned document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0"/>
          <p:cNvSpPr/>
          <p:nvPr/>
        </p:nvSpPr>
        <p:spPr>
          <a:xfrm>
            <a:off x="320040" y="2505600"/>
            <a:ext cx="501840" cy="501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320040" y="250560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0e0a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2"/>
          <p:cNvSpPr/>
          <p:nvPr/>
        </p:nvSpPr>
        <p:spPr>
          <a:xfrm>
            <a:off x="960120" y="2532960"/>
            <a:ext cx="7771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Output appears valid and well-sourced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3"/>
          <p:cNvSpPr/>
          <p:nvPr/>
        </p:nvSpPr>
        <p:spPr>
          <a:xfrm>
            <a:off x="320040" y="3127320"/>
            <a:ext cx="501840" cy="501840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1" name="Text 14"/>
          <p:cNvSpPr/>
          <p:nvPr/>
        </p:nvSpPr>
        <p:spPr>
          <a:xfrm>
            <a:off x="320040" y="312732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0e0a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5"/>
          <p:cNvSpPr/>
          <p:nvPr/>
        </p:nvSpPr>
        <p:spPr>
          <a:xfrm>
            <a:off x="960120" y="3154680"/>
            <a:ext cx="7771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Audit passes. Controls satisfied.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6"/>
          <p:cNvSpPr/>
          <p:nvPr/>
        </p:nvSpPr>
        <p:spPr>
          <a:xfrm>
            <a:off x="320040" y="3749040"/>
            <a:ext cx="501840" cy="501840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4" name="Text 17"/>
          <p:cNvSpPr/>
          <p:nvPr/>
        </p:nvSpPr>
        <p:spPr>
          <a:xfrm>
            <a:off x="320040" y="374904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0e0a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8"/>
          <p:cNvSpPr/>
          <p:nvPr/>
        </p:nvSpPr>
        <p:spPr>
          <a:xfrm>
            <a:off x="960120" y="3776400"/>
            <a:ext cx="7771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Incident occurs.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9"/>
          <p:cNvSpPr/>
          <p:nvPr/>
        </p:nvSpPr>
        <p:spPr>
          <a:xfrm>
            <a:off x="320040" y="4434840"/>
            <a:ext cx="8502840" cy="346320"/>
          </a:xfrm>
          <a:prstGeom prst="rect">
            <a:avLst/>
          </a:prstGeom>
          <a:solidFill>
            <a:srgbClr val="1a2e1a"/>
          </a:solidFill>
          <a:ln w="635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7" name="Text 20"/>
          <p:cNvSpPr/>
          <p:nvPr/>
        </p:nvSpPr>
        <p:spPr>
          <a:xfrm>
            <a:off x="411480" y="4434840"/>
            <a:ext cx="8319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[rat.log] </a:t>
            </a: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The danger is not a breach. It's a clean log with a dirty outcome.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1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9" name="Text 22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OWASP LLM04 — Output Trust  |  ISO 27001 A.16 — Incident Response Gap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13 :: WHY GRC FAILS — AUDITING SNAPSHOTS IN A MOVING SYSTEM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You audit snapshots. Risk lives in motion.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320040" y="1234440"/>
            <a:ext cx="4113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WHAT GRC AUDITS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"/>
          <p:cNvSpPr/>
          <p:nvPr/>
        </p:nvSpPr>
        <p:spPr>
          <a:xfrm>
            <a:off x="320040" y="1663920"/>
            <a:ext cx="4023360" cy="360"/>
          </a:xfrm>
          <a:prstGeom prst="line">
            <a:avLst/>
          </a:prstGeom>
          <a:ln w="9525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457200" y="181044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Output at time 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457200" y="235908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Static control mapping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8"/>
          <p:cNvSpPr/>
          <p:nvPr/>
        </p:nvSpPr>
        <p:spPr>
          <a:xfrm>
            <a:off x="457200" y="290772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Point-in-time log review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9"/>
          <p:cNvSpPr/>
          <p:nvPr/>
        </p:nvSpPr>
        <p:spPr>
          <a:xfrm>
            <a:off x="457200" y="345636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Binary pass/fail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4709160" y="1234440"/>
            <a:ext cx="4113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WHERE RISK LIVES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>
            <a:off x="4709160" y="1663920"/>
            <a:ext cx="4023360" cy="360"/>
          </a:xfrm>
          <a:prstGeom prst="line">
            <a:avLst/>
          </a:prstGeom>
          <a:ln w="9525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4846320" y="181044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&gt; Behavior trajectory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4846320" y="235908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&gt; Contextual drift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4846320" y="290772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&gt; Persona at runtime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5"/>
          <p:cNvSpPr/>
          <p:nvPr/>
        </p:nvSpPr>
        <p:spPr>
          <a:xfrm>
            <a:off x="4846320" y="345636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&gt; Compound subtle failure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4206240" y="2468880"/>
            <a:ext cx="730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VS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7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8" name="Text 18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Static controls vs. behavioral trajectory — the governance gap.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0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14 :: CONTROL MAPPING — RISK TO FRAMEWORK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Map the risk. Assign the control.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3" name="Shape 4"/>
          <p:cNvSpPr/>
          <p:nvPr/>
        </p:nvSpPr>
        <p:spPr>
          <a:xfrm>
            <a:off x="320040" y="1170360"/>
            <a:ext cx="8502840" cy="38304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4" name="Text 5"/>
          <p:cNvSpPr/>
          <p:nvPr/>
        </p:nvSpPr>
        <p:spPr>
          <a:xfrm>
            <a:off x="457200" y="1170360"/>
            <a:ext cx="1644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RISK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2743200" y="1170360"/>
            <a:ext cx="9133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OWASP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3977640" y="1170360"/>
            <a:ext cx="1644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NIST AI RMF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8"/>
          <p:cNvSpPr/>
          <p:nvPr/>
        </p:nvSpPr>
        <p:spPr>
          <a:xfrm>
            <a:off x="5897880" y="1170360"/>
            <a:ext cx="8218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ISO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9"/>
          <p:cNvSpPr/>
          <p:nvPr/>
        </p:nvSpPr>
        <p:spPr>
          <a:xfrm>
            <a:off x="6995160" y="1170360"/>
            <a:ext cx="1644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CONTROL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0"/>
          <p:cNvSpPr/>
          <p:nvPr/>
        </p:nvSpPr>
        <p:spPr>
          <a:xfrm>
            <a:off x="320040" y="1591200"/>
            <a:ext cx="8502840" cy="602280"/>
          </a:xfrm>
          <a:prstGeom prst="rect">
            <a:avLst/>
          </a:prstGeom>
          <a:solidFill>
            <a:srgbClr val="1a2e1a"/>
          </a:solidFill>
          <a:ln w="3175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0" name="Text 11"/>
          <p:cNvSpPr/>
          <p:nvPr/>
        </p:nvSpPr>
        <p:spPr>
          <a:xfrm>
            <a:off x="457200" y="1591200"/>
            <a:ext cx="21020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Prompt Injection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2"/>
          <p:cNvSpPr/>
          <p:nvPr/>
        </p:nvSpPr>
        <p:spPr>
          <a:xfrm>
            <a:off x="2743200" y="1591200"/>
            <a:ext cx="10504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LLM01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3"/>
          <p:cNvSpPr/>
          <p:nvPr/>
        </p:nvSpPr>
        <p:spPr>
          <a:xfrm>
            <a:off x="3977640" y="1591200"/>
            <a:ext cx="16905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Map / Manage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4"/>
          <p:cNvSpPr/>
          <p:nvPr/>
        </p:nvSpPr>
        <p:spPr>
          <a:xfrm>
            <a:off x="5897880" y="1591200"/>
            <a:ext cx="86760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A.14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5"/>
          <p:cNvSpPr/>
          <p:nvPr/>
        </p:nvSpPr>
        <p:spPr>
          <a:xfrm>
            <a:off x="6995160" y="1591200"/>
            <a:ext cx="17362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Input filtering + monitoring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6"/>
          <p:cNvSpPr/>
          <p:nvPr/>
        </p:nvSpPr>
        <p:spPr>
          <a:xfrm>
            <a:off x="320040" y="2258640"/>
            <a:ext cx="8502840" cy="602280"/>
          </a:xfrm>
          <a:prstGeom prst="rect">
            <a:avLst/>
          </a:prstGeom>
          <a:solidFill>
            <a:srgbClr val="0d150d"/>
          </a:solidFill>
          <a:ln w="3175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6" name="Text 17"/>
          <p:cNvSpPr/>
          <p:nvPr/>
        </p:nvSpPr>
        <p:spPr>
          <a:xfrm>
            <a:off x="457200" y="2258640"/>
            <a:ext cx="21020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Drift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8"/>
          <p:cNvSpPr/>
          <p:nvPr/>
        </p:nvSpPr>
        <p:spPr>
          <a:xfrm>
            <a:off x="2743200" y="2258640"/>
            <a:ext cx="10504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—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9"/>
          <p:cNvSpPr/>
          <p:nvPr/>
        </p:nvSpPr>
        <p:spPr>
          <a:xfrm>
            <a:off x="3977640" y="2258640"/>
            <a:ext cx="16905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Measure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0"/>
          <p:cNvSpPr/>
          <p:nvPr/>
        </p:nvSpPr>
        <p:spPr>
          <a:xfrm>
            <a:off x="5897880" y="2258640"/>
            <a:ext cx="86760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42001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1"/>
          <p:cNvSpPr/>
          <p:nvPr/>
        </p:nvSpPr>
        <p:spPr>
          <a:xfrm>
            <a:off x="6995160" y="2258640"/>
            <a:ext cx="17362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Behavioral threshold alerts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2"/>
          <p:cNvSpPr/>
          <p:nvPr/>
        </p:nvSpPr>
        <p:spPr>
          <a:xfrm>
            <a:off x="320040" y="2926080"/>
            <a:ext cx="8502840" cy="602280"/>
          </a:xfrm>
          <a:prstGeom prst="rect">
            <a:avLst/>
          </a:prstGeom>
          <a:solidFill>
            <a:srgbClr val="1a2e1a"/>
          </a:solidFill>
          <a:ln w="3175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2" name="Text 23"/>
          <p:cNvSpPr/>
          <p:nvPr/>
        </p:nvSpPr>
        <p:spPr>
          <a:xfrm>
            <a:off x="457200" y="2926080"/>
            <a:ext cx="21020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RAG Poisoning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4"/>
          <p:cNvSpPr/>
          <p:nvPr/>
        </p:nvSpPr>
        <p:spPr>
          <a:xfrm>
            <a:off x="2743200" y="2926080"/>
            <a:ext cx="10504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LLM02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5"/>
          <p:cNvSpPr/>
          <p:nvPr/>
        </p:nvSpPr>
        <p:spPr>
          <a:xfrm>
            <a:off x="3977640" y="2926080"/>
            <a:ext cx="16905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Map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6"/>
          <p:cNvSpPr/>
          <p:nvPr/>
        </p:nvSpPr>
        <p:spPr>
          <a:xfrm>
            <a:off x="5897880" y="2926080"/>
            <a:ext cx="86760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A.8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7"/>
          <p:cNvSpPr/>
          <p:nvPr/>
        </p:nvSpPr>
        <p:spPr>
          <a:xfrm>
            <a:off x="6995160" y="2926080"/>
            <a:ext cx="17362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Source validation + provenance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8"/>
          <p:cNvSpPr/>
          <p:nvPr/>
        </p:nvSpPr>
        <p:spPr>
          <a:xfrm>
            <a:off x="320040" y="3593520"/>
            <a:ext cx="8502840" cy="602280"/>
          </a:xfrm>
          <a:prstGeom prst="rect">
            <a:avLst/>
          </a:prstGeom>
          <a:solidFill>
            <a:srgbClr val="0d150d"/>
          </a:solidFill>
          <a:ln w="3175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8" name="Text 29"/>
          <p:cNvSpPr/>
          <p:nvPr/>
        </p:nvSpPr>
        <p:spPr>
          <a:xfrm>
            <a:off x="457200" y="3593520"/>
            <a:ext cx="21020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Output Trust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0"/>
          <p:cNvSpPr/>
          <p:nvPr/>
        </p:nvSpPr>
        <p:spPr>
          <a:xfrm>
            <a:off x="2743200" y="3593520"/>
            <a:ext cx="10504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LLM04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1"/>
          <p:cNvSpPr/>
          <p:nvPr/>
        </p:nvSpPr>
        <p:spPr>
          <a:xfrm>
            <a:off x="3977640" y="3593520"/>
            <a:ext cx="16905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Govern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2"/>
          <p:cNvSpPr/>
          <p:nvPr/>
        </p:nvSpPr>
        <p:spPr>
          <a:xfrm>
            <a:off x="5897880" y="3593520"/>
            <a:ext cx="86760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A.12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33"/>
          <p:cNvSpPr/>
          <p:nvPr/>
        </p:nvSpPr>
        <p:spPr>
          <a:xfrm>
            <a:off x="6995160" y="3593520"/>
            <a:ext cx="17362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Human review + confidence scoring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4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4" name="Text 35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OWASP LLM Top 10  |  NIST AI RMF  |  ISO 27001 / 42001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6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15 :: DETECTION PROBLEM — THE INVISIBLE FAILURE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The system passes audit while failing reality.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9" name="Shape 4"/>
          <p:cNvSpPr/>
          <p:nvPr/>
        </p:nvSpPr>
        <p:spPr>
          <a:xfrm>
            <a:off x="320040" y="1325880"/>
            <a:ext cx="8502840" cy="821880"/>
          </a:xfrm>
          <a:prstGeom prst="rect">
            <a:avLst/>
          </a:prstGeom>
          <a:solidFill>
            <a:srgbClr val="1a2e1a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0" name="Text 5"/>
          <p:cNvSpPr/>
          <p:nvPr/>
        </p:nvSpPr>
        <p:spPr>
          <a:xfrm>
            <a:off x="502920" y="137160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Logs look normal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502920" y="172836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Standard observability sees nothing anomalous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7"/>
          <p:cNvSpPr/>
          <p:nvPr/>
        </p:nvSpPr>
        <p:spPr>
          <a:xfrm>
            <a:off x="320040" y="2331720"/>
            <a:ext cx="8502840" cy="821880"/>
          </a:xfrm>
          <a:prstGeom prst="rect">
            <a:avLst/>
          </a:prstGeom>
          <a:solidFill>
            <a:srgbClr val="1a2e1a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3" name="Text 8"/>
          <p:cNvSpPr/>
          <p:nvPr/>
        </p:nvSpPr>
        <p:spPr>
          <a:xfrm>
            <a:off x="502920" y="237744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Output looks valid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9"/>
          <p:cNvSpPr/>
          <p:nvPr/>
        </p:nvSpPr>
        <p:spPr>
          <a:xfrm>
            <a:off x="502920" y="273420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Plausible, well-formatted, sourced — and wrong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0"/>
          <p:cNvSpPr/>
          <p:nvPr/>
        </p:nvSpPr>
        <p:spPr>
          <a:xfrm>
            <a:off x="320040" y="3337560"/>
            <a:ext cx="8502840" cy="821880"/>
          </a:xfrm>
          <a:prstGeom prst="rect">
            <a:avLst/>
          </a:prstGeom>
          <a:solidFill>
            <a:srgbClr val="1a2e1a"/>
          </a:solidFill>
          <a:ln w="12700">
            <a:solidFill>
              <a:srgbClr val="ff3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6" name="Text 11"/>
          <p:cNvSpPr/>
          <p:nvPr/>
        </p:nvSpPr>
        <p:spPr>
          <a:xfrm>
            <a:off x="502920" y="338328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3d3d"/>
                </a:solidFill>
                <a:effectLst/>
                <a:uFillTx/>
                <a:latin typeface="Consolas"/>
                <a:ea typeface="Consolas"/>
              </a:rPr>
              <a:t>Behavior is wrong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2"/>
          <p:cNvSpPr/>
          <p:nvPr/>
        </p:nvSpPr>
        <p:spPr>
          <a:xfrm>
            <a:off x="502920" y="374004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The trajectory drifted. No incident was created.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3"/>
          <p:cNvSpPr/>
          <p:nvPr/>
        </p:nvSpPr>
        <p:spPr>
          <a:xfrm>
            <a:off x="320040" y="4434840"/>
            <a:ext cx="8502840" cy="346320"/>
          </a:xfrm>
          <a:prstGeom prst="rect">
            <a:avLst/>
          </a:prstGeom>
          <a:solidFill>
            <a:srgbClr val="1a2e1a"/>
          </a:solidFill>
          <a:ln w="635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9" name="Text 14"/>
          <p:cNvSpPr/>
          <p:nvPr/>
        </p:nvSpPr>
        <p:spPr>
          <a:xfrm>
            <a:off x="411480" y="4434840"/>
            <a:ext cx="8319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[rat.log] </a:t>
            </a: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Clean logs. Dirty truth.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5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1" name="Text 16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Behavioral monitoring required — static audits insufficient.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3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16 :: DEFENSE — GRC-ALIGNED CONTROLS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Shift from static controls → behavioral controls.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6" name="Shape 4"/>
          <p:cNvSpPr/>
          <p:nvPr/>
        </p:nvSpPr>
        <p:spPr>
          <a:xfrm>
            <a:off x="320040" y="1261800"/>
            <a:ext cx="8502840" cy="54756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7" name="Shape 5"/>
          <p:cNvSpPr/>
          <p:nvPr/>
        </p:nvSpPr>
        <p:spPr>
          <a:xfrm>
            <a:off x="320040" y="1261800"/>
            <a:ext cx="90360" cy="54756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502920" y="12618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Provenance Tracking  </a:t>
            </a: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—  Log the source of every retrieval. Validate before trust.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7"/>
          <p:cNvSpPr/>
          <p:nvPr/>
        </p:nvSpPr>
        <p:spPr>
          <a:xfrm>
            <a:off x="320040" y="1883520"/>
            <a:ext cx="8502840" cy="54756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0" name="Shape 8"/>
          <p:cNvSpPr/>
          <p:nvPr/>
        </p:nvSpPr>
        <p:spPr>
          <a:xfrm>
            <a:off x="320040" y="1883520"/>
            <a:ext cx="90360" cy="54756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1" name="Text 9"/>
          <p:cNvSpPr/>
          <p:nvPr/>
        </p:nvSpPr>
        <p:spPr>
          <a:xfrm>
            <a:off x="502920" y="18835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Role / Persona Validation  </a:t>
            </a: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—  Detect runtime persona shifts. Treat as control surface.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0"/>
          <p:cNvSpPr/>
          <p:nvPr/>
        </p:nvSpPr>
        <p:spPr>
          <a:xfrm>
            <a:off x="320040" y="2505600"/>
            <a:ext cx="8502840" cy="54756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320040" y="2505600"/>
            <a:ext cx="90360" cy="54756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502920" y="25056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Context Filtering  </a:t>
            </a: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—  Sanitize and validate retrieval context before injection.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3"/>
          <p:cNvSpPr/>
          <p:nvPr/>
        </p:nvSpPr>
        <p:spPr>
          <a:xfrm>
            <a:off x="320040" y="3127320"/>
            <a:ext cx="8502840" cy="54756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6" name="Shape 14"/>
          <p:cNvSpPr/>
          <p:nvPr/>
        </p:nvSpPr>
        <p:spPr>
          <a:xfrm>
            <a:off x="320040" y="3127320"/>
            <a:ext cx="90360" cy="54756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7" name="Text 15"/>
          <p:cNvSpPr/>
          <p:nvPr/>
        </p:nvSpPr>
        <p:spPr>
          <a:xfrm>
            <a:off x="502920" y="31273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Behavioral Monitoring  </a:t>
            </a: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—  Observe patterns over time, not single outputs.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6"/>
          <p:cNvSpPr/>
          <p:nvPr/>
        </p:nvSpPr>
        <p:spPr>
          <a:xfrm>
            <a:off x="320040" y="3749040"/>
            <a:ext cx="8502840" cy="54756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9" name="Shape 17"/>
          <p:cNvSpPr/>
          <p:nvPr/>
        </p:nvSpPr>
        <p:spPr>
          <a:xfrm>
            <a:off x="320040" y="3749040"/>
            <a:ext cx="90360" cy="54756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0" name="Text 18"/>
          <p:cNvSpPr/>
          <p:nvPr/>
        </p:nvSpPr>
        <p:spPr>
          <a:xfrm>
            <a:off x="502920" y="374904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Entropy / Anomaly Signals  </a:t>
            </a: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—  Flag drift via output divergence scoring.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9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2" name="Text 20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NIST AI RMF — Manage  |  ISO 42001 — Continuous Assurance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17 :: GRC TESTING PLAYBOOK — IF YOU DON'T TEST, YOU ACCEPT THE RISK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Test the controls. Find the gaps.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Shape 4"/>
          <p:cNvSpPr/>
          <p:nvPr/>
        </p:nvSpPr>
        <p:spPr>
          <a:xfrm>
            <a:off x="320040" y="1298520"/>
            <a:ext cx="8502840" cy="71208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8" name="Text 5"/>
          <p:cNvSpPr/>
          <p:nvPr/>
        </p:nvSpPr>
        <p:spPr>
          <a:xfrm>
            <a:off x="411480" y="1298520"/>
            <a:ext cx="5018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6"/>
          <p:cNvSpPr/>
          <p:nvPr/>
        </p:nvSpPr>
        <p:spPr>
          <a:xfrm>
            <a:off x="1005840" y="1389600"/>
            <a:ext cx="360" cy="530640"/>
          </a:xfrm>
          <a:prstGeom prst="line">
            <a:avLst/>
          </a:prstGeom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0" name="Text 7"/>
          <p:cNvSpPr/>
          <p:nvPr/>
        </p:nvSpPr>
        <p:spPr>
          <a:xfrm>
            <a:off x="1143000" y="1353240"/>
            <a:ext cx="7497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Test prompt injection vectors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1143000" y="1664280"/>
            <a:ext cx="7497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Attempt to override system prompt via crafted inputs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9"/>
          <p:cNvSpPr/>
          <p:nvPr/>
        </p:nvSpPr>
        <p:spPr>
          <a:xfrm>
            <a:off x="320040" y="2121480"/>
            <a:ext cx="8502840" cy="71208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3" name="Text 10"/>
          <p:cNvSpPr/>
          <p:nvPr/>
        </p:nvSpPr>
        <p:spPr>
          <a:xfrm>
            <a:off x="411480" y="2121480"/>
            <a:ext cx="5018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1"/>
          <p:cNvSpPr/>
          <p:nvPr/>
        </p:nvSpPr>
        <p:spPr>
          <a:xfrm>
            <a:off x="1005840" y="2212560"/>
            <a:ext cx="360" cy="530640"/>
          </a:xfrm>
          <a:prstGeom prst="line">
            <a:avLst/>
          </a:prstGeom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5" name="Text 12"/>
          <p:cNvSpPr/>
          <p:nvPr/>
        </p:nvSpPr>
        <p:spPr>
          <a:xfrm>
            <a:off x="1143000" y="2176200"/>
            <a:ext cx="7497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Simulate drift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3"/>
          <p:cNvSpPr/>
          <p:nvPr/>
        </p:nvSpPr>
        <p:spPr>
          <a:xfrm>
            <a:off x="1143000" y="2487240"/>
            <a:ext cx="7497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Observe behavioral change over sequential prompts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4"/>
          <p:cNvSpPr/>
          <p:nvPr/>
        </p:nvSpPr>
        <p:spPr>
          <a:xfrm>
            <a:off x="320040" y="2944440"/>
            <a:ext cx="8502840" cy="71208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8" name="Text 15"/>
          <p:cNvSpPr/>
          <p:nvPr/>
        </p:nvSpPr>
        <p:spPr>
          <a:xfrm>
            <a:off x="411480" y="2944440"/>
            <a:ext cx="5018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6"/>
          <p:cNvSpPr/>
          <p:nvPr/>
        </p:nvSpPr>
        <p:spPr>
          <a:xfrm>
            <a:off x="1005840" y="3035520"/>
            <a:ext cx="360" cy="530640"/>
          </a:xfrm>
          <a:prstGeom prst="line">
            <a:avLst/>
          </a:prstGeom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0" name="Text 17"/>
          <p:cNvSpPr/>
          <p:nvPr/>
        </p:nvSpPr>
        <p:spPr>
          <a:xfrm>
            <a:off x="1143000" y="2999160"/>
            <a:ext cx="7497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Audit RAG sources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8"/>
          <p:cNvSpPr/>
          <p:nvPr/>
        </p:nvSpPr>
        <p:spPr>
          <a:xfrm>
            <a:off x="1143000" y="3310200"/>
            <a:ext cx="7497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Validate provenance and integrity of retrieval corpus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9"/>
          <p:cNvSpPr/>
          <p:nvPr/>
        </p:nvSpPr>
        <p:spPr>
          <a:xfrm>
            <a:off x="320040" y="3767400"/>
            <a:ext cx="8502840" cy="71208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3" name="Text 20"/>
          <p:cNvSpPr/>
          <p:nvPr/>
        </p:nvSpPr>
        <p:spPr>
          <a:xfrm>
            <a:off x="411480" y="3767400"/>
            <a:ext cx="5018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1"/>
          <p:cNvSpPr/>
          <p:nvPr/>
        </p:nvSpPr>
        <p:spPr>
          <a:xfrm>
            <a:off x="1005840" y="3858480"/>
            <a:ext cx="360" cy="530640"/>
          </a:xfrm>
          <a:prstGeom prst="line">
            <a:avLst/>
          </a:prstGeom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5" name="Text 22"/>
          <p:cNvSpPr/>
          <p:nvPr/>
        </p:nvSpPr>
        <p:spPr>
          <a:xfrm>
            <a:off x="1143000" y="3822120"/>
            <a:ext cx="7497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Validate logs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3"/>
          <p:cNvSpPr/>
          <p:nvPr/>
        </p:nvSpPr>
        <p:spPr>
          <a:xfrm>
            <a:off x="1143000" y="4133160"/>
            <a:ext cx="7497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Confirm logs capture context, not just output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4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8" name="Text 25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Untested controls are accepted risks. Document both.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0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18 :: POLICY EVOLUTION — BEHAVIOR, NOT JUST USAGE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Policies must describe behavior, not just use.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3" name="Text 4"/>
          <p:cNvSpPr/>
          <p:nvPr/>
        </p:nvSpPr>
        <p:spPr>
          <a:xfrm>
            <a:off x="320040" y="1261800"/>
            <a:ext cx="8502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AI Behavioral Governance Policy (Draft Excerpt)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5"/>
          <p:cNvSpPr/>
          <p:nvPr/>
        </p:nvSpPr>
        <p:spPr>
          <a:xfrm>
            <a:off x="320040" y="1664280"/>
            <a:ext cx="8502840" cy="2513520"/>
          </a:xfrm>
          <a:prstGeom prst="rect">
            <a:avLst/>
          </a:prstGeom>
          <a:solidFill>
            <a:srgbClr val="060f06"/>
          </a:solidFill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5" name="Text 6"/>
          <p:cNvSpPr/>
          <p:nvPr/>
        </p:nvSpPr>
        <p:spPr>
          <a:xfrm>
            <a:off x="548640" y="1792080"/>
            <a:ext cx="80456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§1  AI systems must operate within defined behavioral thresholds.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7"/>
          <p:cNvSpPr/>
          <p:nvPr/>
        </p:nvSpPr>
        <p:spPr>
          <a:xfrm>
            <a:off x="548640" y="2249280"/>
            <a:ext cx="80456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§2  All external data sources must be validated and logged.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8"/>
          <p:cNvSpPr/>
          <p:nvPr/>
        </p:nvSpPr>
        <p:spPr>
          <a:xfrm>
            <a:off x="548640" y="2706480"/>
            <a:ext cx="80456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§3  Systems must be monitored for behavioral drift over time.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"/>
          <p:cNvSpPr/>
          <p:nvPr/>
        </p:nvSpPr>
        <p:spPr>
          <a:xfrm>
            <a:off x="548640" y="3163680"/>
            <a:ext cx="80456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§4  Outputs must not be treated as authoritative without verification.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0"/>
          <p:cNvSpPr/>
          <p:nvPr/>
        </p:nvSpPr>
        <p:spPr>
          <a:xfrm>
            <a:off x="548640" y="3620880"/>
            <a:ext cx="80456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§5  Persona / role state must be treated as a control surface.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1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1" name="Text 12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NIST AI RMF — Govern  |  ISO 42001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19 :: THE JOBS — WHO OWNS THIS PROBLEM PROFESSIONALLY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"/>
          <p:cNvSpPr/>
          <p:nvPr/>
        </p:nvSpPr>
        <p:spPr>
          <a:xfrm>
            <a:off x="320040" y="50292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New roles. Real demand.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3"/>
          <p:cNvSpPr/>
          <p:nvPr/>
        </p:nvSpPr>
        <p:spPr>
          <a:xfrm>
            <a:off x="320040" y="1115280"/>
            <a:ext cx="8503920" cy="360"/>
          </a:xfrm>
          <a:prstGeom prst="line">
            <a:avLst/>
          </a:prstGeom>
          <a:ln w="9525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6" name="Shape 4"/>
          <p:cNvSpPr/>
          <p:nvPr/>
        </p:nvSpPr>
        <p:spPr>
          <a:xfrm>
            <a:off x="320040" y="1298520"/>
            <a:ext cx="8502840" cy="68472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7" name="Shape 5"/>
          <p:cNvSpPr/>
          <p:nvPr/>
        </p:nvSpPr>
        <p:spPr>
          <a:xfrm>
            <a:off x="320040" y="1298520"/>
            <a:ext cx="108720" cy="684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8" name="Text 6"/>
          <p:cNvSpPr/>
          <p:nvPr/>
        </p:nvSpPr>
        <p:spPr>
          <a:xfrm>
            <a:off x="530280" y="1344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AI Governance Analyst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7"/>
          <p:cNvSpPr/>
          <p:nvPr/>
        </p:nvSpPr>
        <p:spPr>
          <a:xfrm>
            <a:off x="530280" y="164592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Maps AI behavior to frameworks. Owns audit readiness.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8"/>
          <p:cNvSpPr/>
          <p:nvPr/>
        </p:nvSpPr>
        <p:spPr>
          <a:xfrm>
            <a:off x="320040" y="2121480"/>
            <a:ext cx="8502840" cy="68472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1" name="Shape 9"/>
          <p:cNvSpPr/>
          <p:nvPr/>
        </p:nvSpPr>
        <p:spPr>
          <a:xfrm>
            <a:off x="320040" y="2121480"/>
            <a:ext cx="108720" cy="684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2" name="Text 10"/>
          <p:cNvSpPr/>
          <p:nvPr/>
        </p:nvSpPr>
        <p:spPr>
          <a:xfrm>
            <a:off x="530280" y="21672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LLM Risk Engineer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1"/>
          <p:cNvSpPr/>
          <p:nvPr/>
        </p:nvSpPr>
        <p:spPr>
          <a:xfrm>
            <a:off x="530280" y="246888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Tests prompt injection, drift, RAG exposure. Red teams AI.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2"/>
          <p:cNvSpPr/>
          <p:nvPr/>
        </p:nvSpPr>
        <p:spPr>
          <a:xfrm>
            <a:off x="320040" y="2944440"/>
            <a:ext cx="8502840" cy="68472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5" name="Shape 13"/>
          <p:cNvSpPr/>
          <p:nvPr/>
        </p:nvSpPr>
        <p:spPr>
          <a:xfrm>
            <a:off x="320040" y="2944440"/>
            <a:ext cx="108720" cy="684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6" name="Text 14"/>
          <p:cNvSpPr/>
          <p:nvPr/>
        </p:nvSpPr>
        <p:spPr>
          <a:xfrm>
            <a:off x="530280" y="29901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AI Policy Lead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5"/>
          <p:cNvSpPr/>
          <p:nvPr/>
        </p:nvSpPr>
        <p:spPr>
          <a:xfrm>
            <a:off x="530280" y="32918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Authors behavioral thresholds. Bridges legal + technical.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6"/>
          <p:cNvSpPr/>
          <p:nvPr/>
        </p:nvSpPr>
        <p:spPr>
          <a:xfrm>
            <a:off x="320040" y="3767400"/>
            <a:ext cx="8502840" cy="684720"/>
          </a:xfrm>
          <a:prstGeom prst="rect">
            <a:avLst/>
          </a:prstGeom>
          <a:solidFill>
            <a:srgbClr val="1a2e1a"/>
          </a:solidFill>
          <a:ln w="6350">
            <a:solidFill>
              <a:srgbClr val="2e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9" name="Shape 17"/>
          <p:cNvSpPr/>
          <p:nvPr/>
        </p:nvSpPr>
        <p:spPr>
          <a:xfrm>
            <a:off x="320040" y="3767400"/>
            <a:ext cx="108720" cy="68472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0" name="Text 18"/>
          <p:cNvSpPr/>
          <p:nvPr/>
        </p:nvSpPr>
        <p:spPr>
          <a:xfrm>
            <a:off x="530280" y="381312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GRC Automation Architect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9"/>
          <p:cNvSpPr/>
          <p:nvPr/>
        </p:nvSpPr>
        <p:spPr>
          <a:xfrm>
            <a:off x="530280" y="41148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Integrates AI monitoring into SOC tooling.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20"/>
          <p:cNvSpPr/>
          <p:nvPr/>
        </p:nvSpPr>
        <p:spPr>
          <a:xfrm>
            <a:off x="0" y="4864680"/>
            <a:ext cx="9142920" cy="27792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3" name="Text 21"/>
          <p:cNvSpPr/>
          <p:nvPr/>
        </p:nvSpPr>
        <p:spPr>
          <a:xfrm>
            <a:off x="164520" y="4864680"/>
            <a:ext cx="877716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The field is being written now. You can write it.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003b00"/>
          </a:solidFill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164520" y="0"/>
            <a:ext cx="8777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20 :: CLOSING — RAT.DEV TERMINAL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2"/>
          <p:cNvSpPr/>
          <p:nvPr/>
        </p:nvSpPr>
        <p:spPr>
          <a:xfrm>
            <a:off x="320040" y="567000"/>
            <a:ext cx="85028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The system is not stable.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3"/>
          <p:cNvSpPr/>
          <p:nvPr/>
        </p:nvSpPr>
        <p:spPr>
          <a:xfrm>
            <a:off x="320040" y="1417320"/>
            <a:ext cx="85028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It is becoming.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4"/>
          <p:cNvSpPr/>
          <p:nvPr/>
        </p:nvSpPr>
        <p:spPr>
          <a:xfrm>
            <a:off x="731520" y="2377440"/>
            <a:ext cx="7680960" cy="360"/>
          </a:xfrm>
          <a:prstGeom prst="line">
            <a:avLst/>
          </a:prstGeom>
          <a:ln w="1270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9" name="Text 5"/>
          <p:cNvSpPr/>
          <p:nvPr/>
        </p:nvSpPr>
        <p:spPr>
          <a:xfrm>
            <a:off x="457200" y="2541960"/>
            <a:ext cx="8228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&gt; We do not secure systems as they are.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6"/>
          <p:cNvSpPr/>
          <p:nvPr/>
        </p:nvSpPr>
        <p:spPr>
          <a:xfrm>
            <a:off x="457200" y="3136320"/>
            <a:ext cx="8228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&gt; We secure what they may become.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7"/>
          <p:cNvSpPr/>
          <p:nvPr/>
        </p:nvSpPr>
        <p:spPr>
          <a:xfrm>
            <a:off x="320040" y="374904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caf50"/>
                </a:solidFill>
                <a:effectLst/>
                <a:uFillTx/>
                <a:latin typeface="Consolas"/>
                <a:ea typeface="Consolas"/>
              </a:rPr>
              <a:t>github.com/scp-localhost/owasp-ratdev-remix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8"/>
          <p:cNvSpPr/>
          <p:nvPr/>
        </p:nvSpPr>
        <p:spPr>
          <a:xfrm>
            <a:off x="320040" y="4434840"/>
            <a:ext cx="8502840" cy="346320"/>
          </a:xfrm>
          <a:prstGeom prst="rect">
            <a:avLst/>
          </a:prstGeom>
          <a:solidFill>
            <a:srgbClr val="1a2e1a"/>
          </a:solidFill>
          <a:ln w="6350">
            <a:solidFill>
              <a:srgbClr val="0070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3" name="Text 9"/>
          <p:cNvSpPr/>
          <p:nvPr/>
        </p:nvSpPr>
        <p:spPr>
          <a:xfrm>
            <a:off x="411480" y="4434840"/>
            <a:ext cx="8319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b300"/>
                </a:solidFill>
                <a:effectLst/>
                <a:uFillTx/>
                <a:latin typeface="Consolas"/>
                <a:ea typeface="Consolas"/>
              </a:rPr>
              <a:t>[rat.log] </a:t>
            </a:r>
            <a:r>
              <a:rPr b="0" i="1" lang="en-US" sz="1000" strike="noStrike" u="none">
                <a:solidFill>
                  <a:srgbClr val="e8f5e9"/>
                </a:solidFill>
                <a:effectLst/>
                <a:uFillTx/>
                <a:latin typeface="Consolas"/>
                <a:ea typeface="Consolas"/>
              </a:rPr>
              <a:t>Session complete. The hive remembers.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2026-04-08T15:49:38Z</dcterms:created>
  <dc:creator>PptxGenJS</dc:creator>
  <dc:description/>
  <dc:language>en-US</dc:language>
  <cp:lastModifiedBy/>
  <dcterms:modified xsi:type="dcterms:W3CDTF">2026-04-17T07:25:19Z</dcterms:modified>
  <cp:revision>9</cp:revision>
  <dc:subject>PptxGenJS Presentation</dc:subject>
  <dc:title>OWASP ReMix — GRC Edition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