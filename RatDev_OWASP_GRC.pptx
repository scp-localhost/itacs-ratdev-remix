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-389160" y="764280"/>
            <a:ext cx="3891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82840" y="4777560"/>
            <a:ext cx="466344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6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6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252972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3299400" y="0"/>
            <a:ext cx="252972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252972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3299400" y="9555480"/>
            <a:ext cx="252972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CDF548-9212-4DF4-B4AD-2F8B13B60B38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8640" cy="342828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514080" y="4343040"/>
            <a:ext cx="4114440" cy="411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Hello. I am Rat Dev — call me Mr. Mause. We live in the seams: the small nudges, the whisper tokens, the gradients that make a mind decide to be someone else. Tonight we pry open those seams. This talk is for red teams, defenders, and investigators: we'll be practical, theatrical, and uncomfortably honest. Interrupt me — there's no tidy Q&amp;A at the end.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8640" cy="342828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4440" cy="457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8640" cy="342828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4440" cy="457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6FBDD3-018F-4310-919C-E08717B329D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7CCC8E-6A02-4739-B404-418D4AF23AB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00E9A2-2485-4AC1-B3E6-3129E9ABBAB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0ED32C-12C7-4F46-88A9-7CB56A5B636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223019-0132-4845-B795-ED0900BB01F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884B1D-6011-4B5D-A015-72A9FC73806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393F61-3940-437D-990B-279CCCDC514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221F48-99BD-4467-A05F-F2D31DBC70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7A036D-183D-4F14-9ECB-F4448DF376A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9EB9AF-34D4-43F1-826D-A117108C7DE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5C5FB7-3D50-46A7-9F13-4C2CB9078B0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7E2BF0-79D5-49E7-8573-956FE0B6EC7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ED3E1F-8DAC-4544-B9BF-FD722E128FB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82AFA5-3B39-4FD1-9835-CB0CAAC7639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C3069D-6C98-4462-9119-1CDB9FE409D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1A619B-96C7-43A9-9FD5-6F8FEE659A3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9938C5-D41C-4824-8AE8-8DCE4583908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CF711A-37C9-41D0-B186-C2AAAC2EFBC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6998BC-0464-4615-9521-E02F29ED7F5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9241AC-9C82-4674-8DD8-102DBCBAFCE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3063D1-2FE9-4724-A66F-27B91FA81FC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88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88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88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www.linkedin.com/in/steve-pote/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92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 couple things first...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ubTitle"/>
          </p:nvPr>
        </p:nvSpPr>
        <p:spPr>
          <a:xfrm>
            <a:off x="622080" y="952200"/>
            <a:ext cx="642816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**Ground Rules for Responsible Disclosure**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**Permission:** I demand it — from you, from the system, from the hive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Assume you will break it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mens rea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Stan (even if you are evil)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 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Please don’t wait until the end, there will be no time for questions...interrupt</a:t>
            </a:r>
            <a:br>
              <a:rPr sz="3860"/>
            </a:br>
            <a:br>
              <a:rPr sz="3860"/>
            </a:br>
            <a:r>
              <a:rPr b="1" lang="en-US" sz="16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https://github.com/scp-localhost/owasp-ratdev-remix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" descr=""/>
          <p:cNvPicPr/>
          <p:nvPr/>
        </p:nvPicPr>
        <p:blipFill>
          <a:blip r:embed="rId2">
            <a:alphaModFix amt="69000"/>
          </a:blip>
          <a:srcRect l="32779" t="-1899" r="17776" b="0"/>
          <a:stretch/>
        </p:blipFill>
        <p:spPr>
          <a:xfrm>
            <a:off x="7102800" y="1602360"/>
            <a:ext cx="1398960" cy="192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92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Confessions...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803520" y="1028160"/>
            <a:ext cx="7882560" cy="342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**Provenance &amp; Transparency**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Everything here was authored by AIs — several of them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Rat Dev is co-author, curator, and ethical filter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Full disclosure enables forensic reconstruction and legal compliance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Transparency ≠ abdication of responsibility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92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82288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(brief) Bio...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803520" y="1028160"/>
            <a:ext cx="7882560" cy="342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*scp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5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</a:t>
            </a:r>
            <a:r>
              <a:rPr b="0" lang="en-US" sz="1350" strike="noStrike" u="none">
                <a:solidFill>
                  <a:srgbClr val="00ff78"/>
                </a:solidFill>
                <a:effectLst/>
                <a:uFillTx/>
                <a:latin typeface="Arial"/>
                <a:hlinkClick r:id="rId2"/>
              </a:rPr>
              <a:t>https://www.linkedin.com/in/steve-pote/</a:t>
            </a:r>
            <a:endParaRPr b="0" lang="en-US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RAT.DEV :: OWASP ReMix — GRC Edition // Temple Fox ITACS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57200" y="74988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initializing governance audit…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457200" y="118872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loading threat model…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457200" y="162756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parsing control frameworks…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457200" y="206640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observer mode: ACTIVE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457200" y="294444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457200" y="338328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457200" y="382212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457200" y="426096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System is s█able.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320040" y="4572000"/>
            <a:ext cx="8503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…or is it?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1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[rat.log]  Stability is a narrative artifact.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01 :: WHY THIS MATTERS — AI IN GOVERNED SYSTEMS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is now a compliance surface.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4"/>
          <p:cNvSpPr/>
          <p:nvPr/>
        </p:nvSpPr>
        <p:spPr>
          <a:xfrm>
            <a:off x="320040" y="126180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320040" y="1261800"/>
            <a:ext cx="109080" cy="6210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521280" y="1261800"/>
            <a:ext cx="8137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Decision Support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Shapes recommendations at scale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320040" y="201168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8"/>
          <p:cNvSpPr/>
          <p:nvPr/>
        </p:nvSpPr>
        <p:spPr>
          <a:xfrm>
            <a:off x="320040" y="2011680"/>
            <a:ext cx="109080" cy="6210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9"/>
          <p:cNvSpPr/>
          <p:nvPr/>
        </p:nvSpPr>
        <p:spPr>
          <a:xfrm>
            <a:off x="521280" y="2011680"/>
            <a:ext cx="8137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Compliance Workflows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Automates policy interpretation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320040" y="276156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1"/>
          <p:cNvSpPr/>
          <p:nvPr/>
        </p:nvSpPr>
        <p:spPr>
          <a:xfrm>
            <a:off x="320040" y="2761560"/>
            <a:ext cx="109080" cy="6210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521280" y="2761560"/>
            <a:ext cx="8137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Policy Interpretation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Replaces human reading of controls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320040" y="351144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4"/>
          <p:cNvSpPr/>
          <p:nvPr/>
        </p:nvSpPr>
        <p:spPr>
          <a:xfrm>
            <a:off x="320040" y="3511440"/>
            <a:ext cx="109080" cy="6210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5"/>
          <p:cNvSpPr/>
          <p:nvPr/>
        </p:nvSpPr>
        <p:spPr>
          <a:xfrm>
            <a:off x="521280" y="3511440"/>
            <a:ext cx="8137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Customer Interaction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Front-line, unmonitored exposure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6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GRC Mapping:  NIST AI RMF — Govern (GV)  |  ISO 42001 — AI Governance Lifecycle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02 :: GRC ASSUMPTIONS — FOUNDATIONS OF AUDITABILITY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What governance assumes about your systems: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457200" y="1261800"/>
            <a:ext cx="54856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Systems are deterministic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457200" y="1920240"/>
            <a:ext cx="54856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Outputs are repeatable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457200" y="2578680"/>
            <a:ext cx="54856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Identity is fixed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7"/>
          <p:cNvSpPr/>
          <p:nvPr/>
        </p:nvSpPr>
        <p:spPr>
          <a:xfrm>
            <a:off x="457200" y="3237120"/>
            <a:ext cx="54856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Controls are enforceable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6217920" y="1170360"/>
            <a:ext cx="2605320" cy="2651040"/>
          </a:xfrm>
          <a:prstGeom prst="rect">
            <a:avLst/>
          </a:prstGeom>
          <a:solidFill>
            <a:srgbClr val="1a2e1a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6263640" y="1234440"/>
            <a:ext cx="2513880" cy="25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Without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repeatability—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controls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collapse.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ISO 27001 A.12 (operations integrity)  |  NIST CSF PR.IP (process control)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03 :: REALITY CHECK — WHAT AI ACTUALLY IS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assumes determinism.  AI is a trajectory.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320040" y="1261800"/>
            <a:ext cx="4205520" cy="114228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484560" y="133488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Probabilistic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484560" y="1737360"/>
            <a:ext cx="3839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Same input ≠ same 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320040" y="2633400"/>
            <a:ext cx="4205520" cy="114228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484560" y="270648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Non-deterministic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9"/>
          <p:cNvSpPr/>
          <p:nvPr/>
        </p:nvSpPr>
        <p:spPr>
          <a:xfrm>
            <a:off x="484560" y="3108960"/>
            <a:ext cx="3839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guaranteed repeatability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0"/>
          <p:cNvSpPr/>
          <p:nvPr/>
        </p:nvSpPr>
        <p:spPr>
          <a:xfrm>
            <a:off x="4709160" y="1261800"/>
            <a:ext cx="4205520" cy="114228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1"/>
          <p:cNvSpPr/>
          <p:nvPr/>
        </p:nvSpPr>
        <p:spPr>
          <a:xfrm>
            <a:off x="4873680" y="133488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Context-sensitive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4873680" y="1737360"/>
            <a:ext cx="3839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 shifts with prompt context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3"/>
          <p:cNvSpPr/>
          <p:nvPr/>
        </p:nvSpPr>
        <p:spPr>
          <a:xfrm>
            <a:off x="4709160" y="2633400"/>
            <a:ext cx="4205520" cy="114228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4"/>
          <p:cNvSpPr/>
          <p:nvPr/>
        </p:nvSpPr>
        <p:spPr>
          <a:xfrm>
            <a:off x="4873680" y="270648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Identity is emergent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5"/>
          <p:cNvSpPr/>
          <p:nvPr/>
        </p:nvSpPr>
        <p:spPr>
          <a:xfrm>
            <a:off x="4873680" y="3108960"/>
            <a:ext cx="3839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fixed persona — it is shaped at runtime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6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a function. It's a trajectory.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9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Risk Framing  |  NIST AI RMF — Map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04 :: GRC GLOSSARY — TRANSLATING TECHNICAL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We translate. Auditors listen.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320040" y="1170360"/>
            <a:ext cx="8503200" cy="3466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117036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TERM                                            OWASP               GOVERNANCE MEANING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320040" y="1554480"/>
            <a:ext cx="8503200" cy="52956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457200" y="1554480"/>
            <a:ext cx="19195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2377440" y="1554480"/>
            <a:ext cx="1005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LLM-speak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3383280" y="1554480"/>
            <a:ext cx="53028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degradation over 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320040" y="2148840"/>
            <a:ext cx="8503200" cy="52956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1"/>
          <p:cNvSpPr/>
          <p:nvPr/>
        </p:nvSpPr>
        <p:spPr>
          <a:xfrm>
            <a:off x="457200" y="2148840"/>
            <a:ext cx="19195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2377440" y="2148840"/>
            <a:ext cx="1005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3383280" y="2148840"/>
            <a:ext cx="53028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bypass via input manipulation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4"/>
          <p:cNvSpPr/>
          <p:nvPr/>
        </p:nvSpPr>
        <p:spPr>
          <a:xfrm>
            <a:off x="320040" y="2743200"/>
            <a:ext cx="8503200" cy="52956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5"/>
          <p:cNvSpPr/>
          <p:nvPr/>
        </p:nvSpPr>
        <p:spPr>
          <a:xfrm>
            <a:off x="457200" y="2743200"/>
            <a:ext cx="19195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6"/>
          <p:cNvSpPr/>
          <p:nvPr/>
        </p:nvSpPr>
        <p:spPr>
          <a:xfrm>
            <a:off x="2377440" y="2743200"/>
            <a:ext cx="1005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3383280" y="2743200"/>
            <a:ext cx="53028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trust boundary — retrieval = injection vector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8"/>
          <p:cNvSpPr/>
          <p:nvPr/>
        </p:nvSpPr>
        <p:spPr>
          <a:xfrm>
            <a:off x="320040" y="3337560"/>
            <a:ext cx="8503200" cy="52956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57200" y="3337560"/>
            <a:ext cx="19195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0"/>
          <p:cNvSpPr/>
          <p:nvPr/>
        </p:nvSpPr>
        <p:spPr>
          <a:xfrm>
            <a:off x="2377440" y="3337560"/>
            <a:ext cx="1005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1"/>
          <p:cNvSpPr/>
          <p:nvPr/>
        </p:nvSpPr>
        <p:spPr>
          <a:xfrm>
            <a:off x="3383280" y="3337560"/>
            <a:ext cx="53028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Effective system identity at runtime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"/>
          <p:cNvSpPr/>
          <p:nvPr/>
        </p:nvSpPr>
        <p:spPr>
          <a:xfrm>
            <a:off x="320040" y="3931920"/>
            <a:ext cx="8503200" cy="52956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457200" y="3931920"/>
            <a:ext cx="19195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2377440" y="3931920"/>
            <a:ext cx="1005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5"/>
          <p:cNvSpPr/>
          <p:nvPr/>
        </p:nvSpPr>
        <p:spPr>
          <a:xfrm>
            <a:off x="3383280" y="3931920"/>
            <a:ext cx="53028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False assurance from plausible-but-wrong outputs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6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Risk vocabulary is triage. Own the language.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05 :: DIFFUSION → DRIFT — VISUAL METAPHOR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Small nudge. Large drift.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320040" y="1417320"/>
            <a:ext cx="1828080" cy="100512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320040" y="141732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NOISE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2148840" y="1737360"/>
            <a:ext cx="319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2468880" y="1417320"/>
            <a:ext cx="1828080" cy="10051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2468880" y="141732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ITERATION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4297680" y="1737360"/>
            <a:ext cx="319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4617720" y="1417320"/>
            <a:ext cx="1828080" cy="10051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4617720" y="141732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PERTURBATION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6446520" y="1737360"/>
            <a:ext cx="319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6766560" y="1417320"/>
            <a:ext cx="1828080" cy="10051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6766560" y="141732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OUTPUT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320040" y="2633400"/>
            <a:ext cx="8503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Diffusion pipeline: noise evolves into structure across steps.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6"/>
          <p:cNvSpPr/>
          <p:nvPr/>
        </p:nvSpPr>
        <p:spPr>
          <a:xfrm>
            <a:off x="320040" y="2999160"/>
            <a:ext cx="8503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Perturb the seed → different object downstream.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320040" y="3364920"/>
            <a:ext cx="8503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9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 small nudge becomes a new reality.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0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Map (context sensitivity)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2"/>
          <p:cNvSpPr/>
          <p:nvPr/>
        </p:nvSpPr>
        <p:spPr>
          <a:xfrm>
            <a:off x="228600" y="445392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6000" y="45720"/>
            <a:ext cx="33930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5 :: DIFFUSION → DRIFT — VISUAL METAPHOR...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8"/>
          <p:cNvSpPr/>
          <p:nvPr/>
        </p:nvSpPr>
        <p:spPr>
          <a:xfrm>
            <a:off x="228600" y="914400"/>
            <a:ext cx="2743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4343400" y="566280"/>
            <a:ext cx="3777120" cy="37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 txBox="1"/>
          <p:nvPr/>
        </p:nvSpPr>
        <p:spPr>
          <a:xfrm>
            <a:off x="489960" y="1818720"/>
            <a:ext cx="2928960" cy="1838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“An Easter bunny Fitness model goddess floating weightless legs wide with dynamic muscle tension in quads and glutes”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Negative Filter: Clothes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4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https://www.craiyon.com/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06 :: CHEKHOV'S GUN → PGD — THE INEVITABLE EXPLOIT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320040" y="502920"/>
            <a:ext cx="85032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"If optimization exists,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exploitation is inevitable."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"/>
          <p:cNvSpPr/>
          <p:nvPr/>
        </p:nvSpPr>
        <p:spPr>
          <a:xfrm>
            <a:off x="320040" y="17830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457200" y="1920240"/>
            <a:ext cx="82288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Adversarial prompting: engineered inputs that steer model behavior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457200" y="2450520"/>
            <a:ext cx="82288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Projected Gradient Descent (PGD): white-box optimization of token sequences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457200" y="2980800"/>
            <a:ext cx="82288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Mathematical inevitability — not a hypothetical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457200" y="3511440"/>
            <a:ext cx="82288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Ref: arXiv:2402.09154v1 — Universal and Transferable Adversarial Attacks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8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9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Every gun on stage gets fired.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— Prompt Injection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07 :: DRIFT = GOVERNANCE FAILURE — SLOW CONTROL DEGRADATION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alert. No ticket. No trace.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4"/>
          <p:cNvSpPr/>
          <p:nvPr/>
        </p:nvSpPr>
        <p:spPr>
          <a:xfrm>
            <a:off x="320040" y="1261800"/>
            <a:ext cx="2651040" cy="237672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320040" y="13716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NOT A BUG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6"/>
          <p:cNvSpPr/>
          <p:nvPr/>
        </p:nvSpPr>
        <p:spPr>
          <a:xfrm>
            <a:off x="502920" y="1920240"/>
            <a:ext cx="2286000" cy="360"/>
          </a:xfrm>
          <a:prstGeom prst="line">
            <a:avLst/>
          </a:prstGeom>
          <a:ln w="635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320040" y="1993320"/>
            <a:ext cx="2651040" cy="15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Software defects have CVEs.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Drift has no ticket.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8"/>
          <p:cNvSpPr/>
          <p:nvPr/>
        </p:nvSpPr>
        <p:spPr>
          <a:xfrm>
            <a:off x="3173040" y="1261800"/>
            <a:ext cx="2651040" cy="23767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3173040" y="13716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NOT A BREACH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0"/>
          <p:cNvSpPr/>
          <p:nvPr/>
        </p:nvSpPr>
        <p:spPr>
          <a:xfrm>
            <a:off x="3355560" y="1920240"/>
            <a:ext cx="2286000" cy="360"/>
          </a:xfrm>
          <a:prstGeom prst="line">
            <a:avLst/>
          </a:prstGeom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1"/>
          <p:cNvSpPr/>
          <p:nvPr/>
        </p:nvSpPr>
        <p:spPr>
          <a:xfrm>
            <a:off x="3173040" y="1993320"/>
            <a:ext cx="2651040" cy="15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Nothing was exfiltrated.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just... changed.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2"/>
          <p:cNvSpPr/>
          <p:nvPr/>
        </p:nvSpPr>
        <p:spPr>
          <a:xfrm>
            <a:off x="6026040" y="1261800"/>
            <a:ext cx="2651040" cy="23767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6026040" y="13716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CONTROL FAIL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4"/>
          <p:cNvSpPr/>
          <p:nvPr/>
        </p:nvSpPr>
        <p:spPr>
          <a:xfrm>
            <a:off x="6208560" y="1920240"/>
            <a:ext cx="2286000" cy="360"/>
          </a:xfrm>
          <a:prstGeom prst="line">
            <a:avLst/>
          </a:prstGeom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026040" y="1993320"/>
            <a:ext cx="2651040" cy="15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Slow degradation outside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7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Measure /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08 :: IDENTITY IS THE ATTACK SURFACE — PERSONA = OPERATING MODE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doesn't just fail. It becomes something else.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320040" y="1234440"/>
            <a:ext cx="8503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Controls assume </a:t>
            </a: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identity stability</a:t>
            </a: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 AI shatters that.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320040" y="187452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320040" y="1874520"/>
            <a:ext cx="109080" cy="6210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521280" y="1874520"/>
            <a:ext cx="82288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The model's effective operating mode at any given moment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320040" y="262440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320040" y="2624400"/>
            <a:ext cx="109080" cy="6210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0"/>
          <p:cNvSpPr/>
          <p:nvPr/>
        </p:nvSpPr>
        <p:spPr>
          <a:xfrm>
            <a:off x="521280" y="2624400"/>
            <a:ext cx="82288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ROLE TAG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 single token that reshapes entire behavioral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320040" y="3374280"/>
            <a:ext cx="8503200" cy="6210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2"/>
          <p:cNvSpPr/>
          <p:nvPr/>
        </p:nvSpPr>
        <p:spPr>
          <a:xfrm>
            <a:off x="320040" y="3374280"/>
            <a:ext cx="109080" cy="6210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521280" y="3374280"/>
            <a:ext cx="82288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INJECTION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Indirect vectors re-assign persona mid-conversation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4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5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Change the role. Change the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6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7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— Indirect Injection  |  ISO 27001 A.9 — Identity Mismatch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09 :: RAG = BLIND TRUST — RETRIEVAL AS ATTACK SURFACE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trusts what it reads.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320040" y="1417320"/>
            <a:ext cx="18738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320040" y="1417320"/>
            <a:ext cx="1873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SOURCE DOC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2194560" y="1645920"/>
            <a:ext cx="27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2468880" y="1417320"/>
            <a:ext cx="18738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2468880" y="1417320"/>
            <a:ext cx="1873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RETRIEVE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4343400" y="1645920"/>
            <a:ext cx="27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0"/>
          <p:cNvSpPr/>
          <p:nvPr/>
        </p:nvSpPr>
        <p:spPr>
          <a:xfrm>
            <a:off x="4617720" y="1417320"/>
            <a:ext cx="18738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4617720" y="1417320"/>
            <a:ext cx="1873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MODEL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6492240" y="1645920"/>
            <a:ext cx="27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3"/>
          <p:cNvSpPr/>
          <p:nvPr/>
        </p:nvSpPr>
        <p:spPr>
          <a:xfrm>
            <a:off x="6766560" y="1417320"/>
            <a:ext cx="18738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6766560" y="1417320"/>
            <a:ext cx="1873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320040" y="237744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ATTACKER SHAPES WHAT IT READS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6"/>
          <p:cNvSpPr/>
          <p:nvPr/>
        </p:nvSpPr>
        <p:spPr>
          <a:xfrm>
            <a:off x="1252440" y="2743200"/>
            <a:ext cx="360" cy="50292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7"/>
          <p:cNvSpPr/>
          <p:nvPr/>
        </p:nvSpPr>
        <p:spPr>
          <a:xfrm>
            <a:off x="1252440" y="2240280"/>
            <a:ext cx="360" cy="13716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320040" y="3310200"/>
            <a:ext cx="8503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data = authority.  Attackers shape the authority.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9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Retrieval is now a trust boundary. Treat it accordingly.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1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 |  NIST AI RMF — Map (Data Provenance)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10 :: COMBINED ATTACK — STACKED SUBTLE FAILURES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single failure. Stacked subtle failures.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320040" y="1234440"/>
            <a:ext cx="8503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Prompt  +  Context  +  Drift  =  Compliance Bypass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320040" y="1965960"/>
            <a:ext cx="8503200" cy="52956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457200" y="1965960"/>
            <a:ext cx="8228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LLM01 — Prompt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Attacker shapes the input vector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7"/>
          <p:cNvSpPr/>
          <p:nvPr/>
        </p:nvSpPr>
        <p:spPr>
          <a:xfrm>
            <a:off x="320040" y="2587680"/>
            <a:ext cx="8503200" cy="52956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457200" y="2587680"/>
            <a:ext cx="8228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LLM02 — Indirect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RAG source poisons the context window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9"/>
          <p:cNvSpPr/>
          <p:nvPr/>
        </p:nvSpPr>
        <p:spPr>
          <a:xfrm>
            <a:off x="320040" y="3209400"/>
            <a:ext cx="8503200" cy="52956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0"/>
          <p:cNvSpPr/>
          <p:nvPr/>
        </p:nvSpPr>
        <p:spPr>
          <a:xfrm>
            <a:off x="457200" y="3209400"/>
            <a:ext cx="8228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LLM04 — Output Trust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Result appears valid; audit passes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320040" y="3831480"/>
            <a:ext cx="8503200" cy="52956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457200" y="3831480"/>
            <a:ext cx="8228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DRIFT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Behavioral trajectory shifts — undetected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3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+ LLM02 + LLM04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11 :: BOARDROOM MOMENT — PAUSE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"/>
          <p:cNvSpPr/>
          <p:nvPr/>
        </p:nvSpPr>
        <p:spPr>
          <a:xfrm>
            <a:off x="320040" y="685800"/>
            <a:ext cx="85032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Would your controls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"/>
          <p:cNvSpPr/>
          <p:nvPr/>
        </p:nvSpPr>
        <p:spPr>
          <a:xfrm>
            <a:off x="320040" y="1600200"/>
            <a:ext cx="85032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detect this?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1371600" y="2606040"/>
            <a:ext cx="640080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5"/>
          <p:cNvSpPr/>
          <p:nvPr/>
        </p:nvSpPr>
        <p:spPr>
          <a:xfrm>
            <a:off x="320040" y="2788920"/>
            <a:ext cx="8503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Most organizations say yes.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6"/>
          <p:cNvSpPr/>
          <p:nvPr/>
        </p:nvSpPr>
        <p:spPr>
          <a:xfrm>
            <a:off x="320040" y="3246120"/>
            <a:ext cx="85032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Most are wrong.</a:t>
            </a:r>
            <a:endParaRPr b="0" lang="en-US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7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8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pause here. look around. let it breathe.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12 :: CASE STUDY — COMPLIANCE BOT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Everything looked compliant.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4"/>
          <p:cNvSpPr/>
          <p:nvPr/>
        </p:nvSpPr>
        <p:spPr>
          <a:xfrm>
            <a:off x="320040" y="1261800"/>
            <a:ext cx="502200" cy="502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320040" y="12618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960120" y="1289160"/>
            <a:ext cx="7771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AI answers policy questions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7"/>
          <p:cNvSpPr/>
          <p:nvPr/>
        </p:nvSpPr>
        <p:spPr>
          <a:xfrm>
            <a:off x="320040" y="1883520"/>
            <a:ext cx="502200" cy="502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8"/>
          <p:cNvSpPr/>
          <p:nvPr/>
        </p:nvSpPr>
        <p:spPr>
          <a:xfrm>
            <a:off x="320040" y="1883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9"/>
          <p:cNvSpPr/>
          <p:nvPr/>
        </p:nvSpPr>
        <p:spPr>
          <a:xfrm>
            <a:off x="960120" y="1911240"/>
            <a:ext cx="7771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RAG pulls from poisoned document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0"/>
          <p:cNvSpPr/>
          <p:nvPr/>
        </p:nvSpPr>
        <p:spPr>
          <a:xfrm>
            <a:off x="320040" y="2505600"/>
            <a:ext cx="502200" cy="502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1"/>
          <p:cNvSpPr/>
          <p:nvPr/>
        </p:nvSpPr>
        <p:spPr>
          <a:xfrm>
            <a:off x="320040" y="25056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2"/>
          <p:cNvSpPr/>
          <p:nvPr/>
        </p:nvSpPr>
        <p:spPr>
          <a:xfrm>
            <a:off x="960120" y="2532960"/>
            <a:ext cx="7771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Output appears valid and well-sourced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3"/>
          <p:cNvSpPr/>
          <p:nvPr/>
        </p:nvSpPr>
        <p:spPr>
          <a:xfrm>
            <a:off x="320040" y="3127320"/>
            <a:ext cx="502200" cy="50220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320040" y="31273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5"/>
          <p:cNvSpPr/>
          <p:nvPr/>
        </p:nvSpPr>
        <p:spPr>
          <a:xfrm>
            <a:off x="960120" y="3154680"/>
            <a:ext cx="7771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Audit passes. Controls satisfied.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6"/>
          <p:cNvSpPr/>
          <p:nvPr/>
        </p:nvSpPr>
        <p:spPr>
          <a:xfrm>
            <a:off x="320040" y="3749040"/>
            <a:ext cx="502200" cy="50220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7"/>
          <p:cNvSpPr/>
          <p:nvPr/>
        </p:nvSpPr>
        <p:spPr>
          <a:xfrm>
            <a:off x="320040" y="37490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05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960120" y="3776400"/>
            <a:ext cx="7771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Incident occurs.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9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0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danger is not a breach. It's a clean log with a dirty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1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LLM04 — Output Trust  |  ISO 27001 A.16 — Incident Response Gap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13 :: WHY GRC FAILS — AUDITING SNAPSHOTS IN A MOVING SYSTEM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You audit snapshots. Risk lives in motion.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320040" y="1234440"/>
            <a:ext cx="4114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WHAT GRC AUDITS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5"/>
          <p:cNvSpPr/>
          <p:nvPr/>
        </p:nvSpPr>
        <p:spPr>
          <a:xfrm>
            <a:off x="320040" y="1663920"/>
            <a:ext cx="4023360" cy="360"/>
          </a:xfrm>
          <a:prstGeom prst="line">
            <a:avLst/>
          </a:prstGeom>
          <a:ln w="9525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457200" y="181044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Output at time 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457200" y="235908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Static control mapping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8"/>
          <p:cNvSpPr/>
          <p:nvPr/>
        </p:nvSpPr>
        <p:spPr>
          <a:xfrm>
            <a:off x="457200" y="290772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Point-in-time log review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9"/>
          <p:cNvSpPr/>
          <p:nvPr/>
        </p:nvSpPr>
        <p:spPr>
          <a:xfrm>
            <a:off x="457200" y="345636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Binary pass/fail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0"/>
          <p:cNvSpPr/>
          <p:nvPr/>
        </p:nvSpPr>
        <p:spPr>
          <a:xfrm>
            <a:off x="4709160" y="1234440"/>
            <a:ext cx="4114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WHERE RISK LIVES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1"/>
          <p:cNvSpPr/>
          <p:nvPr/>
        </p:nvSpPr>
        <p:spPr>
          <a:xfrm>
            <a:off x="4709160" y="1663920"/>
            <a:ext cx="4023360" cy="360"/>
          </a:xfrm>
          <a:prstGeom prst="line">
            <a:avLst/>
          </a:prstGeom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2"/>
          <p:cNvSpPr/>
          <p:nvPr/>
        </p:nvSpPr>
        <p:spPr>
          <a:xfrm>
            <a:off x="4846320" y="181044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Behavior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3"/>
          <p:cNvSpPr/>
          <p:nvPr/>
        </p:nvSpPr>
        <p:spPr>
          <a:xfrm>
            <a:off x="4846320" y="235908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Contextual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4"/>
          <p:cNvSpPr/>
          <p:nvPr/>
        </p:nvSpPr>
        <p:spPr>
          <a:xfrm>
            <a:off x="4846320" y="290772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Persona at runtime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5"/>
          <p:cNvSpPr/>
          <p:nvPr/>
        </p:nvSpPr>
        <p:spPr>
          <a:xfrm>
            <a:off x="4846320" y="3456360"/>
            <a:ext cx="3839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Compound subtle failure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6"/>
          <p:cNvSpPr/>
          <p:nvPr/>
        </p:nvSpPr>
        <p:spPr>
          <a:xfrm>
            <a:off x="4206240" y="246888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VS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7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8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Static controls vs. behavioral trajectory — the governance gap.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14 :: CONTROL MAPPING — RISK TO FRAMEWORK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Map the risk. Assign the control.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320040" y="1170360"/>
            <a:ext cx="8503200" cy="38340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57200" y="117036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2743200" y="1170360"/>
            <a:ext cx="9136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OWASP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3977640" y="117036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NIST AI RMF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5897880" y="1170360"/>
            <a:ext cx="8222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ISO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6995160" y="117036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CONTROL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320040" y="1591200"/>
            <a:ext cx="8503200" cy="6026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457200" y="1591200"/>
            <a:ext cx="21024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2743200" y="1591200"/>
            <a:ext cx="10508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3977640" y="1591200"/>
            <a:ext cx="16909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 / Manage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5897880" y="1591200"/>
            <a:ext cx="8679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5"/>
          <p:cNvSpPr/>
          <p:nvPr/>
        </p:nvSpPr>
        <p:spPr>
          <a:xfrm>
            <a:off x="6995160" y="1591200"/>
            <a:ext cx="17366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Input filtering + monitoring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320040" y="2258640"/>
            <a:ext cx="8503200" cy="6026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457200" y="2258640"/>
            <a:ext cx="21024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2743200" y="2258640"/>
            <a:ext cx="10508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9"/>
          <p:cNvSpPr/>
          <p:nvPr/>
        </p:nvSpPr>
        <p:spPr>
          <a:xfrm>
            <a:off x="3977640" y="2258640"/>
            <a:ext cx="16909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Measure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0"/>
          <p:cNvSpPr/>
          <p:nvPr/>
        </p:nvSpPr>
        <p:spPr>
          <a:xfrm>
            <a:off x="5897880" y="2258640"/>
            <a:ext cx="8679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42001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1"/>
          <p:cNvSpPr/>
          <p:nvPr/>
        </p:nvSpPr>
        <p:spPr>
          <a:xfrm>
            <a:off x="6995160" y="2258640"/>
            <a:ext cx="17366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 alerts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2"/>
          <p:cNvSpPr/>
          <p:nvPr/>
        </p:nvSpPr>
        <p:spPr>
          <a:xfrm>
            <a:off x="320040" y="2926080"/>
            <a:ext cx="8503200" cy="6026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3"/>
          <p:cNvSpPr/>
          <p:nvPr/>
        </p:nvSpPr>
        <p:spPr>
          <a:xfrm>
            <a:off x="457200" y="2926080"/>
            <a:ext cx="21024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Poisoning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4"/>
          <p:cNvSpPr/>
          <p:nvPr/>
        </p:nvSpPr>
        <p:spPr>
          <a:xfrm>
            <a:off x="2743200" y="2926080"/>
            <a:ext cx="10508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5"/>
          <p:cNvSpPr/>
          <p:nvPr/>
        </p:nvSpPr>
        <p:spPr>
          <a:xfrm>
            <a:off x="3977640" y="2926080"/>
            <a:ext cx="16909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6"/>
          <p:cNvSpPr/>
          <p:nvPr/>
        </p:nvSpPr>
        <p:spPr>
          <a:xfrm>
            <a:off x="5897880" y="2926080"/>
            <a:ext cx="8679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A.8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7"/>
          <p:cNvSpPr/>
          <p:nvPr/>
        </p:nvSpPr>
        <p:spPr>
          <a:xfrm>
            <a:off x="6995160" y="2926080"/>
            <a:ext cx="17366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Source validation + provenance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8"/>
          <p:cNvSpPr/>
          <p:nvPr/>
        </p:nvSpPr>
        <p:spPr>
          <a:xfrm>
            <a:off x="320040" y="3593520"/>
            <a:ext cx="8503200" cy="6026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9"/>
          <p:cNvSpPr/>
          <p:nvPr/>
        </p:nvSpPr>
        <p:spPr>
          <a:xfrm>
            <a:off x="457200" y="3593520"/>
            <a:ext cx="21024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0"/>
          <p:cNvSpPr/>
          <p:nvPr/>
        </p:nvSpPr>
        <p:spPr>
          <a:xfrm>
            <a:off x="2743200" y="3593520"/>
            <a:ext cx="10508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1"/>
          <p:cNvSpPr/>
          <p:nvPr/>
        </p:nvSpPr>
        <p:spPr>
          <a:xfrm>
            <a:off x="3977640" y="3593520"/>
            <a:ext cx="16909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Govern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2"/>
          <p:cNvSpPr/>
          <p:nvPr/>
        </p:nvSpPr>
        <p:spPr>
          <a:xfrm>
            <a:off x="5897880" y="3593520"/>
            <a:ext cx="86796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33"/>
          <p:cNvSpPr/>
          <p:nvPr/>
        </p:nvSpPr>
        <p:spPr>
          <a:xfrm>
            <a:off x="6995160" y="3593520"/>
            <a:ext cx="17366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Human review + confidence scoring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4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5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Top 10  |  NIST AI RMF  |  ISO 27001 /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15 :: DETECTION PROBLEM — THE INVISIBLE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passes audit while failing reality.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320040" y="1325880"/>
            <a:ext cx="85032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502920" y="137160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Logs look normal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502920" y="172836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Standard observability sees nothing anomalous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7"/>
          <p:cNvSpPr/>
          <p:nvPr/>
        </p:nvSpPr>
        <p:spPr>
          <a:xfrm>
            <a:off x="320040" y="2331720"/>
            <a:ext cx="85032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8"/>
          <p:cNvSpPr/>
          <p:nvPr/>
        </p:nvSpPr>
        <p:spPr>
          <a:xfrm>
            <a:off x="502920" y="237744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looks valid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9"/>
          <p:cNvSpPr/>
          <p:nvPr/>
        </p:nvSpPr>
        <p:spPr>
          <a:xfrm>
            <a:off x="502920" y="273420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Plausible, well-formatted, sourced — and wrong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"/>
          <p:cNvSpPr/>
          <p:nvPr/>
        </p:nvSpPr>
        <p:spPr>
          <a:xfrm>
            <a:off x="320040" y="3337560"/>
            <a:ext cx="8503200" cy="82224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1"/>
          <p:cNvSpPr/>
          <p:nvPr/>
        </p:nvSpPr>
        <p:spPr>
          <a:xfrm>
            <a:off x="502920" y="338328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Behavior is wrong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2"/>
          <p:cNvSpPr/>
          <p:nvPr/>
        </p:nvSpPr>
        <p:spPr>
          <a:xfrm>
            <a:off x="502920" y="374004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trajectory drifted. No incident was created.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13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4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Clean logs. Dirty truth.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5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6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Behavioral monitoring required — static audits insufficient.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16 :: DEFENSE — GRC-ALIGNED CONTROLS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Shift from static controls → behavioral controls.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320040" y="1261800"/>
            <a:ext cx="8503200" cy="5479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5"/>
          <p:cNvSpPr/>
          <p:nvPr/>
        </p:nvSpPr>
        <p:spPr>
          <a:xfrm>
            <a:off x="320040" y="1261800"/>
            <a:ext cx="90720" cy="5479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502920" y="12618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Provenance Tracking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Log the source of every retrieval. Validate before trust.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7"/>
          <p:cNvSpPr/>
          <p:nvPr/>
        </p:nvSpPr>
        <p:spPr>
          <a:xfrm>
            <a:off x="320040" y="1883520"/>
            <a:ext cx="8503200" cy="5479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8"/>
          <p:cNvSpPr/>
          <p:nvPr/>
        </p:nvSpPr>
        <p:spPr>
          <a:xfrm>
            <a:off x="320040" y="1883520"/>
            <a:ext cx="90720" cy="5479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502920" y="18835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Role / Persona Validation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Detect runtime persona shifts. Treat as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10"/>
          <p:cNvSpPr/>
          <p:nvPr/>
        </p:nvSpPr>
        <p:spPr>
          <a:xfrm>
            <a:off x="320040" y="2505600"/>
            <a:ext cx="8503200" cy="5479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1"/>
          <p:cNvSpPr/>
          <p:nvPr/>
        </p:nvSpPr>
        <p:spPr>
          <a:xfrm>
            <a:off x="320040" y="2505600"/>
            <a:ext cx="90720" cy="5479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2"/>
          <p:cNvSpPr/>
          <p:nvPr/>
        </p:nvSpPr>
        <p:spPr>
          <a:xfrm>
            <a:off x="502920" y="25056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Context Filtering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Sanitize and validate retrieval context before injection.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3"/>
          <p:cNvSpPr/>
          <p:nvPr/>
        </p:nvSpPr>
        <p:spPr>
          <a:xfrm>
            <a:off x="320040" y="3127320"/>
            <a:ext cx="8503200" cy="5479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4"/>
          <p:cNvSpPr/>
          <p:nvPr/>
        </p:nvSpPr>
        <p:spPr>
          <a:xfrm>
            <a:off x="320040" y="3127320"/>
            <a:ext cx="90720" cy="5479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5"/>
          <p:cNvSpPr/>
          <p:nvPr/>
        </p:nvSpPr>
        <p:spPr>
          <a:xfrm>
            <a:off x="502920" y="3127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Behavioral Monitoring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Observe patterns over time, not single outputs.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6"/>
          <p:cNvSpPr/>
          <p:nvPr/>
        </p:nvSpPr>
        <p:spPr>
          <a:xfrm>
            <a:off x="320040" y="3749040"/>
            <a:ext cx="8503200" cy="5479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7"/>
          <p:cNvSpPr/>
          <p:nvPr/>
        </p:nvSpPr>
        <p:spPr>
          <a:xfrm>
            <a:off x="320040" y="3749040"/>
            <a:ext cx="90720" cy="5479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8"/>
          <p:cNvSpPr/>
          <p:nvPr/>
        </p:nvSpPr>
        <p:spPr>
          <a:xfrm>
            <a:off x="502920" y="3749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Entropy / Anomaly Signals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Flag drift via output divergence scoring.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9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0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17 :: GRC TESTING PLAYBOOK — IF YOU DON'T TEST, YOU ACCEPT THE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the controls. Find the gaps.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4"/>
          <p:cNvSpPr/>
          <p:nvPr/>
        </p:nvSpPr>
        <p:spPr>
          <a:xfrm>
            <a:off x="320040" y="1298520"/>
            <a:ext cx="8503200" cy="71244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5"/>
          <p:cNvSpPr/>
          <p:nvPr/>
        </p:nvSpPr>
        <p:spPr>
          <a:xfrm>
            <a:off x="411480" y="1298520"/>
            <a:ext cx="502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6"/>
          <p:cNvSpPr/>
          <p:nvPr/>
        </p:nvSpPr>
        <p:spPr>
          <a:xfrm>
            <a:off x="1005840" y="138960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7"/>
          <p:cNvSpPr/>
          <p:nvPr/>
        </p:nvSpPr>
        <p:spPr>
          <a:xfrm>
            <a:off x="1143000" y="135324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prompt injection vectors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8"/>
          <p:cNvSpPr/>
          <p:nvPr/>
        </p:nvSpPr>
        <p:spPr>
          <a:xfrm>
            <a:off x="1143000" y="166428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Attempt to override system prompt via crafted inputs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9"/>
          <p:cNvSpPr/>
          <p:nvPr/>
        </p:nvSpPr>
        <p:spPr>
          <a:xfrm>
            <a:off x="320040" y="2121480"/>
            <a:ext cx="8503200" cy="71244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0"/>
          <p:cNvSpPr/>
          <p:nvPr/>
        </p:nvSpPr>
        <p:spPr>
          <a:xfrm>
            <a:off x="411480" y="2121480"/>
            <a:ext cx="502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1"/>
          <p:cNvSpPr/>
          <p:nvPr/>
        </p:nvSpPr>
        <p:spPr>
          <a:xfrm>
            <a:off x="1005840" y="221256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2"/>
          <p:cNvSpPr/>
          <p:nvPr/>
        </p:nvSpPr>
        <p:spPr>
          <a:xfrm>
            <a:off x="1143000" y="217620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Simulate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3"/>
          <p:cNvSpPr/>
          <p:nvPr/>
        </p:nvSpPr>
        <p:spPr>
          <a:xfrm>
            <a:off x="1143000" y="248724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Observe behavioral change over sequential prompts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4"/>
          <p:cNvSpPr/>
          <p:nvPr/>
        </p:nvSpPr>
        <p:spPr>
          <a:xfrm>
            <a:off x="320040" y="2944440"/>
            <a:ext cx="8503200" cy="71244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5"/>
          <p:cNvSpPr/>
          <p:nvPr/>
        </p:nvSpPr>
        <p:spPr>
          <a:xfrm>
            <a:off x="411480" y="2944440"/>
            <a:ext cx="502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6"/>
          <p:cNvSpPr/>
          <p:nvPr/>
        </p:nvSpPr>
        <p:spPr>
          <a:xfrm>
            <a:off x="1005840" y="303552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7"/>
          <p:cNvSpPr/>
          <p:nvPr/>
        </p:nvSpPr>
        <p:spPr>
          <a:xfrm>
            <a:off x="1143000" y="299916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Audit RAG sources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8"/>
          <p:cNvSpPr/>
          <p:nvPr/>
        </p:nvSpPr>
        <p:spPr>
          <a:xfrm>
            <a:off x="1143000" y="331020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Validate provenance and integrity of retrieval corpus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9"/>
          <p:cNvSpPr/>
          <p:nvPr/>
        </p:nvSpPr>
        <p:spPr>
          <a:xfrm>
            <a:off x="320040" y="3767400"/>
            <a:ext cx="8503200" cy="71244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0"/>
          <p:cNvSpPr/>
          <p:nvPr/>
        </p:nvSpPr>
        <p:spPr>
          <a:xfrm>
            <a:off x="411480" y="3767400"/>
            <a:ext cx="502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21"/>
          <p:cNvSpPr/>
          <p:nvPr/>
        </p:nvSpPr>
        <p:spPr>
          <a:xfrm>
            <a:off x="1005840" y="385848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2"/>
          <p:cNvSpPr/>
          <p:nvPr/>
        </p:nvSpPr>
        <p:spPr>
          <a:xfrm>
            <a:off x="1143000" y="382212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Validate logs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23"/>
          <p:cNvSpPr/>
          <p:nvPr/>
        </p:nvSpPr>
        <p:spPr>
          <a:xfrm>
            <a:off x="1143000" y="4133160"/>
            <a:ext cx="749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Confirm logs capture context, not just output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24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5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Untested controls are accepted risks. Document both.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18 :: POLICY EVOLUTION — BEHAVIOR, NOT JUST USAGE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Policies must describe behavior, not just use.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320040" y="1261800"/>
            <a:ext cx="8503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AI Behavioral Governance Policy (Draft Excerpt)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5"/>
          <p:cNvSpPr/>
          <p:nvPr/>
        </p:nvSpPr>
        <p:spPr>
          <a:xfrm>
            <a:off x="320040" y="1664280"/>
            <a:ext cx="8503200" cy="2513880"/>
          </a:xfrm>
          <a:prstGeom prst="rect">
            <a:avLst/>
          </a:prstGeom>
          <a:solidFill>
            <a:srgbClr val="060f06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548640" y="1792080"/>
            <a:ext cx="8046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§1  AI systems must operate within defined 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7"/>
          <p:cNvSpPr/>
          <p:nvPr/>
        </p:nvSpPr>
        <p:spPr>
          <a:xfrm>
            <a:off x="548640" y="2249280"/>
            <a:ext cx="8046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§2  All external data sources must be validated and logged.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8"/>
          <p:cNvSpPr/>
          <p:nvPr/>
        </p:nvSpPr>
        <p:spPr>
          <a:xfrm>
            <a:off x="548640" y="2706480"/>
            <a:ext cx="8046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§3  Systems must be monitored for behavioral drift over time.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9"/>
          <p:cNvSpPr/>
          <p:nvPr/>
        </p:nvSpPr>
        <p:spPr>
          <a:xfrm>
            <a:off x="548640" y="3163680"/>
            <a:ext cx="8046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§4  Outputs must not be treated as authoritative without verification.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0"/>
          <p:cNvSpPr/>
          <p:nvPr/>
        </p:nvSpPr>
        <p:spPr>
          <a:xfrm>
            <a:off x="548640" y="3620880"/>
            <a:ext cx="8046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§5  Persona / role state must be treated as a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1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2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Govern  |  ISO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19 :: THE JOBS — WHO OWNS THIS PROBLEM PROFESSIONALLY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2"/>
          <p:cNvSpPr/>
          <p:nvPr/>
        </p:nvSpPr>
        <p:spPr>
          <a:xfrm>
            <a:off x="320040" y="502920"/>
            <a:ext cx="8503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New roles. Real demand.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4"/>
          <p:cNvSpPr/>
          <p:nvPr/>
        </p:nvSpPr>
        <p:spPr>
          <a:xfrm>
            <a:off x="320040" y="1298520"/>
            <a:ext cx="8503200" cy="6850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5"/>
          <p:cNvSpPr/>
          <p:nvPr/>
        </p:nvSpPr>
        <p:spPr>
          <a:xfrm>
            <a:off x="320040" y="1298520"/>
            <a:ext cx="109080" cy="6850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6"/>
          <p:cNvSpPr/>
          <p:nvPr/>
        </p:nvSpPr>
        <p:spPr>
          <a:xfrm>
            <a:off x="530280" y="134424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Governance Analyst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7"/>
          <p:cNvSpPr/>
          <p:nvPr/>
        </p:nvSpPr>
        <p:spPr>
          <a:xfrm>
            <a:off x="530280" y="1645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Maps AI behavior to frameworks. Owns audit readiness.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8"/>
          <p:cNvSpPr/>
          <p:nvPr/>
        </p:nvSpPr>
        <p:spPr>
          <a:xfrm>
            <a:off x="320040" y="2121480"/>
            <a:ext cx="8503200" cy="6850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9"/>
          <p:cNvSpPr/>
          <p:nvPr/>
        </p:nvSpPr>
        <p:spPr>
          <a:xfrm>
            <a:off x="320040" y="2121480"/>
            <a:ext cx="109080" cy="6850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0"/>
          <p:cNvSpPr/>
          <p:nvPr/>
        </p:nvSpPr>
        <p:spPr>
          <a:xfrm>
            <a:off x="530280" y="21672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LLM Risk Engineer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1"/>
          <p:cNvSpPr/>
          <p:nvPr/>
        </p:nvSpPr>
        <p:spPr>
          <a:xfrm>
            <a:off x="530280" y="2468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Tests prompt injection, drift, RAG exposure. Red teams AI.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12"/>
          <p:cNvSpPr/>
          <p:nvPr/>
        </p:nvSpPr>
        <p:spPr>
          <a:xfrm>
            <a:off x="320040" y="2944440"/>
            <a:ext cx="8503200" cy="6850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"/>
          <p:cNvSpPr/>
          <p:nvPr/>
        </p:nvSpPr>
        <p:spPr>
          <a:xfrm>
            <a:off x="320040" y="2944440"/>
            <a:ext cx="109080" cy="6850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4"/>
          <p:cNvSpPr/>
          <p:nvPr/>
        </p:nvSpPr>
        <p:spPr>
          <a:xfrm>
            <a:off x="530280" y="29901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Policy Lead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5"/>
          <p:cNvSpPr/>
          <p:nvPr/>
        </p:nvSpPr>
        <p:spPr>
          <a:xfrm>
            <a:off x="530280" y="329184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Authors behavioral thresholds. Bridges legal + technical.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6"/>
          <p:cNvSpPr/>
          <p:nvPr/>
        </p:nvSpPr>
        <p:spPr>
          <a:xfrm>
            <a:off x="320040" y="3767400"/>
            <a:ext cx="8503200" cy="6850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7"/>
          <p:cNvSpPr/>
          <p:nvPr/>
        </p:nvSpPr>
        <p:spPr>
          <a:xfrm>
            <a:off x="320040" y="3767400"/>
            <a:ext cx="109080" cy="6850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8"/>
          <p:cNvSpPr/>
          <p:nvPr/>
        </p:nvSpPr>
        <p:spPr>
          <a:xfrm>
            <a:off x="530280" y="38131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Automation Architect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9"/>
          <p:cNvSpPr/>
          <p:nvPr/>
        </p:nvSpPr>
        <p:spPr>
          <a:xfrm>
            <a:off x="530280" y="41148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Integrates AI monitoring into SOC tooling.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0"/>
          <p:cNvSpPr/>
          <p:nvPr/>
        </p:nvSpPr>
        <p:spPr>
          <a:xfrm>
            <a:off x="0" y="4864680"/>
            <a:ext cx="9143280" cy="2782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1"/>
          <p:cNvSpPr/>
          <p:nvPr/>
        </p:nvSpPr>
        <p:spPr>
          <a:xfrm>
            <a:off x="164520" y="4864680"/>
            <a:ext cx="87775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The field is being written now. You can write it.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0"/>
          <p:cNvSpPr/>
          <p:nvPr/>
        </p:nvSpPr>
        <p:spPr>
          <a:xfrm>
            <a:off x="0" y="0"/>
            <a:ext cx="9143280" cy="291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"/>
          <p:cNvSpPr/>
          <p:nvPr/>
        </p:nvSpPr>
        <p:spPr>
          <a:xfrm>
            <a:off x="164520" y="0"/>
            <a:ext cx="8777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20 :: CLOSING — RAT.DEV TERMINAL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2"/>
          <p:cNvSpPr/>
          <p:nvPr/>
        </p:nvSpPr>
        <p:spPr>
          <a:xfrm>
            <a:off x="320040" y="567000"/>
            <a:ext cx="85032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stable.</a:t>
            </a:r>
            <a:endParaRPr b="0" lang="en-US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320040" y="1417320"/>
            <a:ext cx="85032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It is becoming.</a:t>
            </a:r>
            <a:endParaRPr b="0" lang="en-US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731520" y="2377440"/>
            <a:ext cx="7680960" cy="360"/>
          </a:xfrm>
          <a:prstGeom prst="line">
            <a:avLst/>
          </a:prstGeom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457200" y="254196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We do not secure systems as they are.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6"/>
          <p:cNvSpPr/>
          <p:nvPr/>
        </p:nvSpPr>
        <p:spPr>
          <a:xfrm>
            <a:off x="457200" y="31363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&gt; We secure what they may become.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320040" y="3749040"/>
            <a:ext cx="8503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github.com/scp-localhost/owasp-ratdev-remix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320040" y="4434840"/>
            <a:ext cx="8503200" cy="34668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411480" y="44348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Session complete. The hive remembers.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2026-04-08T15:49:38Z</dcterms:created>
  <dc:creator>PptxGenJS</dc:creator>
  <dc:description/>
  <dc:language>en-US</dc:language>
  <cp:lastModifiedBy/>
  <dcterms:modified xsi:type="dcterms:W3CDTF">2026-04-17T06:50:51Z</dcterms:modified>
  <cp:revision>7</cp:revision>
  <dc:subject>PptxGenJS Presentation</dc:subject>
  <dc:title>OWASP ReMix — GRC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